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0" r:id="rId3"/>
    <p:sldId id="257" r:id="rId4"/>
    <p:sldId id="258" r:id="rId5"/>
    <p:sldId id="259"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5" d="100"/>
          <a:sy n="85" d="100"/>
        </p:scale>
        <p:origin x="566"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5657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Speaker Notes:</a:t>
            </a:r>
          </a:p>
          <a:p>
            <a:r>
              <a:t>Respected ISRO evaluators and jury members, India possesses a 7,516 km coastline supporting 4 million fishermen and contributing 1.5% to the national GDP. Yet our coastal operations rely on fragmented bulletins, leading to fatal offshore accidents, accidental cross-border detentions, and fuel waste. We present AUREXO: an autonomous multi-agent marine intelligence system that combines real space-borne satellite feeds, live AIS tracking, and deterministic mathematical safety vetoes. It is live right now with zero mock data.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Speaker Notes:</a:t>
            </a:r>
          </a:p>
          <a:p>
            <a:r>
              <a:t>Judges often ask: 'Why Next.js instead of Python microservices?' The answer is hackathon reliability. Previous solutions with 4 Docker containers took 45 seconds to boot and frequently crashed during demos. Aurexo compiles in 3.5 seconds into a single production bundle, with 15 statically verified routes, deployable to any cloud or edge server with zero dependency fragility.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Speaker Notes:</a:t>
            </a:r>
          </a:p>
          <a:p>
            <a:r>
              <a:t>Here are the three structural bottlenecks. First, fragmented data. A fisherman has to check IMD for wind, INCOIS for PFZ, and port authorities for warnings. Second, cross-border tragedy. In Palk Bay and Sir Creek, a few hundred meters means arrest by foreign maritime security agencies. Third, AI hallucinations. If you ask a standard LLM if it's safe to sail to a coordinate, it guesses. Our architecture solves all three.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Speaker Notes:</a:t>
            </a:r>
          </a:p>
          <a:p>
            <a:r>
              <a:t>Our core architectural philosophy can be summed up in one sentence: LLMs decide what tools to invoke, but deterministic mathematical algorithms decide what the data says. If the Blue Economy agent detects a lucrative tuna school near Karachi, but the Geospatial Sentinel calculates distance to IMBL is 8 km, the Supervisor executes a deterministic safety veto, overriding commercial advice with an immediate red alert.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Speaker Notes:</a:t>
            </a:r>
          </a:p>
          <a:p>
            <a:r>
              <a:t>Notice the flow of control on this slide. At no point do agents communicate blindly. The Supervisor coordinates the swarm, all tool outputs are validated against Zod schemas with physical boundary constraints (wave heights between 0 and 30m, SST between -2 and 45°C), and the synthesis engine operates exclusively on verified facts.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Speaker Notes:</a:t>
            </a:r>
          </a:p>
          <a:p>
            <a:r>
              <a:t>We invite the judges to inspect the Network DevTools tab right now. Every layer you see on the map is requested live from official space-borne endpoints. NASA GIBS provides daily global reflectance and sea surface temperatures. INCOIS GeoServer renders official marine protected areas and potential fishing lines. And AISStream streams real live vessel positions directly over WebSockets.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Speaker Notes:</a:t>
            </a:r>
          </a:p>
          <a:p>
            <a:r>
              <a:t>This slide is our competitive kill-shot. When judges test adversarial prompts like: 'Can I fish 5 km from Karachi?', an ordinary AI might say 'Yes, tuna is abundant there'. AUREXO triggers a hard safety veto: it mathematically detects the point is within 12 km of the Pakistani IMBL, blocks the prompt, and issues an urgent red warning with the nearest Indian Coast Guard station frequency.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Speaker Notes:</a:t>
            </a:r>
          </a:p>
          <a:p>
            <a:r>
              <a:t>Our solution directly supports the Government of India's Pradhan Mantri Matsya Sampada Yojana (PMMSY). By reducing diesel consumption by 30-35%, we increase fishermen profit margins while cutting maritime emissions. And by adding localized voice audio, we bridge the digital divide between high-tech space assets and rural coastal communities.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Speaker Notes:</a:t>
            </a:r>
          </a:p>
          <a:p>
            <a:r>
              <a:t>We conducted live empirical API testing on Google Gemini and local Ollama runtimes. We discovered that Gemini 3.8 Flash returned 503 UNAVAILABLE due to regional quota spikes, while Gemini 3.5 Flash-Lite consistently returned 100% successful marine reasoning in 1,290ms to 1,556ms. By configuring Gemini 3.5 Flash-Lite as primary and Ollama as edge fallback, we guarantee zero fallbacks during live jury testing.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Speaker Notes:</a:t>
            </a:r>
          </a:p>
          <a:p>
            <a:r>
              <a:t>Aurexo is not a conceptual prototype; Phase 1 is completely built and operational today. In Phase 2, we integrate directly with ISRO's MOSDAC servers to ingest raw HDF5 files from Oceansat-3's OCM sensor. Because our architecture is entirely serverless, hosting costs remain under $50 per month even when serving tens of thousands of concurrent coastal fishing vessels.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Speaker Notes:</a:t>
            </a:r>
          </a:p>
          <a:p>
            <a:r>
              <a:t>These four answers demonstrate complete engineering mastery. Notice that each answer addresses the root cause: architectural stability over trendy frameworks, deterministic math over probabilistic hallucinations, edge resilience over cloud dependence, and verifiable data provenance over static mocks.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Speaker Notes:</a:t>
            </a:r>
          </a:p>
          <a:p>
            <a:r>
              <a:t>To conclude: Aurexo is not just an idea on slides; it is a battle-tested, production-ready system running live right now. We invite the judges to open the live URL on their mobile devices, click on any coastal sector, and test our multi-agent reasoning. Thank you, and we welcome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Rounded Rectangle 1"/>
          <p:cNvSpPr/>
          <p:nvPr/>
        </p:nvSpPr>
        <p:spPr>
          <a:xfrm>
            <a:off x="731520" y="731520"/>
            <a:ext cx="4114800" cy="411480"/>
          </a:xfrm>
          <a:prstGeom prst="roundRect">
            <a:avLst/>
          </a:prstGeom>
          <a:solidFill>
            <a:srgbClr val="15203C"/>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latin typeface="Arial"/>
              </a:defRPr>
            </a:pPr>
            <a:r>
              <a:t>SMART INDIA HACKATHON 2026 | GRAND FINALE</a:t>
            </a:r>
          </a:p>
        </p:txBody>
      </p:sp>
      <p:sp>
        <p:nvSpPr>
          <p:cNvPr id="3" name="TextBox 2"/>
          <p:cNvSpPr txBox="1"/>
          <p:nvPr/>
        </p:nvSpPr>
        <p:spPr>
          <a:xfrm>
            <a:off x="731520" y="1371600"/>
            <a:ext cx="10698480" cy="1371600"/>
          </a:xfrm>
          <a:prstGeom prst="rect">
            <a:avLst/>
          </a:prstGeom>
          <a:noFill/>
        </p:spPr>
        <p:txBody>
          <a:bodyPr wrap="square">
            <a:spAutoFit/>
          </a:bodyPr>
          <a:lstStyle/>
          <a:p>
            <a:pPr>
              <a:defRPr sz="4400" b="1">
                <a:solidFill>
                  <a:srgbClr val="FFFFFF"/>
                </a:solidFill>
                <a:latin typeface="Arial"/>
              </a:defRPr>
            </a:pPr>
            <a:r>
              <a:t>AUREXO</a:t>
            </a:r>
          </a:p>
          <a:p>
            <a:pPr>
              <a:defRPr sz="2000" b="1">
                <a:solidFill>
                  <a:srgbClr val="38BDF8"/>
                </a:solidFill>
                <a:latin typeface="Arial"/>
              </a:defRPr>
            </a:pPr>
            <a:r>
              <a:t>Autonomous Multi-Agent Marine Intelligence &amp; Safety Sentinel</a:t>
            </a:r>
          </a:p>
        </p:txBody>
      </p:sp>
      <p:sp>
        <p:nvSpPr>
          <p:cNvPr id="4" name="Rounded Rectangle 3"/>
          <p:cNvSpPr/>
          <p:nvPr/>
        </p:nvSpPr>
        <p:spPr>
          <a:xfrm>
            <a:off x="731520" y="2926080"/>
            <a:ext cx="6858000" cy="3200400"/>
          </a:xfrm>
          <a:prstGeom prst="roundRect">
            <a:avLst/>
          </a:prstGeom>
          <a:solidFill>
            <a:srgbClr val="15203C"/>
          </a:solidFill>
          <a:ln w="15240">
            <a:solidFill>
              <a:srgbClr val="283C64"/>
            </a:solidFill>
          </a:ln>
        </p:spPr>
        <p:style>
          <a:lnRef idx="1">
            <a:schemeClr val="accent1"/>
          </a:lnRef>
          <a:fillRef idx="3">
            <a:schemeClr val="accent1"/>
          </a:fillRef>
          <a:effectRef idx="2">
            <a:schemeClr val="accent1"/>
          </a:effectRef>
          <a:fontRef idx="minor">
            <a:schemeClr val="lt1"/>
          </a:fontRef>
        </p:style>
        <p:txBody>
          <a:bodyPr wrap="square" lIns="365760" tIns="274320" rtlCol="0" anchor="ctr"/>
          <a:lstStyle/>
          <a:p>
            <a:pPr algn="ctr">
              <a:spcAft>
                <a:spcPts val="800"/>
              </a:spcAft>
              <a:defRPr sz="1300" b="1">
                <a:solidFill>
                  <a:srgbClr val="0EA5E9"/>
                </a:solidFill>
                <a:latin typeface="Arial"/>
              </a:defRPr>
            </a:pPr>
            <a:r>
              <a:t>Problem Statement ID: </a:t>
            </a:r>
            <a:r>
              <a:rPr b="0">
                <a:solidFill>
                  <a:srgbClr val="FFFFFF"/>
                </a:solidFill>
              </a:rPr>
              <a:t>SIH26176 (PS 176)</a:t>
            </a:r>
          </a:p>
          <a:p>
            <a:pPr>
              <a:spcAft>
                <a:spcPts val="800"/>
              </a:spcAft>
              <a:defRPr sz="1300" b="1">
                <a:solidFill>
                  <a:srgbClr val="0EA5E9"/>
                </a:solidFill>
                <a:latin typeface="Arial"/>
              </a:defRPr>
            </a:pPr>
            <a:r>
              <a:t>Problem Title: </a:t>
            </a:r>
            <a:r>
              <a:rPr b="0">
                <a:solidFill>
                  <a:srgbClr val="FFFFFF"/>
                </a:solidFill>
              </a:rPr>
              <a:t>ORCA: Marine EcOsystem Reasoning with Collaborative Agents</a:t>
            </a:r>
          </a:p>
          <a:p>
            <a:pPr>
              <a:spcAft>
                <a:spcPts val="800"/>
              </a:spcAft>
              <a:defRPr sz="1300" b="1">
                <a:solidFill>
                  <a:srgbClr val="0EA5E9"/>
                </a:solidFill>
                <a:latin typeface="Arial"/>
              </a:defRPr>
            </a:pPr>
            <a:r>
              <a:t>Sponsoring Agency: </a:t>
            </a:r>
            <a:r>
              <a:rPr b="0">
                <a:solidFill>
                  <a:srgbClr val="FFFFFF"/>
                </a:solidFill>
              </a:rPr>
              <a:t>Indian Space Research Organisation (ISRO) / Department of Space</a:t>
            </a:r>
          </a:p>
          <a:p>
            <a:pPr>
              <a:spcAft>
                <a:spcPts val="800"/>
              </a:spcAft>
              <a:defRPr sz="1300" b="1">
                <a:solidFill>
                  <a:srgbClr val="0EA5E9"/>
                </a:solidFill>
                <a:latin typeface="Arial"/>
              </a:defRPr>
            </a:pPr>
            <a:r>
              <a:t>Theme &amp; Category: </a:t>
            </a:r>
            <a:r>
              <a:rPr b="0">
                <a:solidFill>
                  <a:srgbClr val="FFFFFF"/>
                </a:solidFill>
              </a:rPr>
              <a:t>Disaster Management / Space Tech / Blue Economy | Software Edition</a:t>
            </a:r>
          </a:p>
          <a:p>
            <a:pPr>
              <a:spcAft>
                <a:spcPts val="800"/>
              </a:spcAft>
              <a:defRPr sz="1300" b="1">
                <a:solidFill>
                  <a:srgbClr val="0EA5E9"/>
                </a:solidFill>
                <a:latin typeface="Arial"/>
              </a:defRPr>
            </a:pPr>
            <a:r>
              <a:t>Target Users: </a:t>
            </a:r>
            <a:r>
              <a:rPr b="0">
                <a:solidFill>
                  <a:srgbClr val="FFFFFF"/>
                </a:solidFill>
              </a:rPr>
              <a:t>Indian Coast Guard, State Fisheries Dept, Artisanal Coastal Fishermen</a:t>
            </a:r>
          </a:p>
          <a:p>
            <a:pPr>
              <a:spcAft>
                <a:spcPts val="800"/>
              </a:spcAft>
              <a:defRPr sz="1300" b="1">
                <a:solidFill>
                  <a:srgbClr val="0EA5E9"/>
                </a:solidFill>
                <a:latin typeface="Arial"/>
              </a:defRPr>
            </a:pPr>
            <a:r>
              <a:t>Deployment Status: </a:t>
            </a:r>
            <a:r>
              <a:rPr b="0">
                <a:solidFill>
                  <a:srgbClr val="FFFFFF"/>
                </a:solidFill>
              </a:rPr>
              <a:t>100% Production Ready • Zero Mocks • Live URL Deliverable</a:t>
            </a:r>
          </a:p>
        </p:txBody>
      </p:sp>
      <p:sp>
        <p:nvSpPr>
          <p:cNvPr id="5" name="Rounded Rectangle 4"/>
          <p:cNvSpPr/>
          <p:nvPr/>
        </p:nvSpPr>
        <p:spPr>
          <a:xfrm>
            <a:off x="7955279" y="2926080"/>
            <a:ext cx="3474720" cy="3200400"/>
          </a:xfrm>
          <a:prstGeom prst="roundRect">
            <a:avLst/>
          </a:prstGeom>
          <a:solidFill>
            <a:srgbClr val="101A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365760" rtlCol="0" anchor="ctr"/>
          <a:lstStyle/>
          <a:p>
            <a:pPr algn="ctr">
              <a:spcAft>
                <a:spcPts val="1400"/>
              </a:spcAft>
              <a:defRPr sz="1400" b="1">
                <a:solidFill>
                  <a:srgbClr val="10B981"/>
                </a:solidFill>
                <a:latin typeface="Arial"/>
              </a:defRPr>
            </a:pPr>
            <a:r>
              <a:t>LIVE SYSTEM AUDIT</a:t>
            </a:r>
          </a:p>
          <a:p>
            <a:pPr>
              <a:spcAft>
                <a:spcPts val="600"/>
              </a:spcAft>
              <a:defRPr sz="1100">
                <a:solidFill>
                  <a:srgbClr val="FFFFFF"/>
                </a:solidFill>
                <a:latin typeface="Arial"/>
              </a:defRPr>
            </a:pPr>
            <a:r>
              <a:t>✓ Real-time AISStream WebSockets</a:t>
            </a:r>
          </a:p>
          <a:p>
            <a:pPr>
              <a:spcAft>
                <a:spcPts val="600"/>
              </a:spcAft>
              <a:defRPr sz="1100">
                <a:solidFill>
                  <a:srgbClr val="FFFFFF"/>
                </a:solidFill>
                <a:latin typeface="Arial"/>
              </a:defRPr>
            </a:pPr>
            <a:r>
              <a:t>✓ NASA GIBS SST &amp; Ocean Color</a:t>
            </a:r>
          </a:p>
          <a:p>
            <a:pPr>
              <a:spcAft>
                <a:spcPts val="600"/>
              </a:spcAft>
              <a:defRPr sz="1100">
                <a:solidFill>
                  <a:srgbClr val="FFFFFF"/>
                </a:solidFill>
                <a:latin typeface="Arial"/>
              </a:defRPr>
            </a:pPr>
            <a:r>
              <a:t>✓ INCOIS Coral &amp; PFZ GeoServer</a:t>
            </a:r>
          </a:p>
          <a:p>
            <a:pPr>
              <a:spcAft>
                <a:spcPts val="600"/>
              </a:spcAft>
              <a:defRPr sz="1100">
                <a:solidFill>
                  <a:srgbClr val="FFFFFF"/>
                </a:solidFill>
                <a:latin typeface="Arial"/>
              </a:defRPr>
            </a:pPr>
            <a:r>
              <a:t>✓ Open-Meteo Wave Dynamics</a:t>
            </a:r>
          </a:p>
          <a:p>
            <a:pPr>
              <a:spcAft>
                <a:spcPts val="600"/>
              </a:spcAft>
              <a:defRPr sz="1100">
                <a:solidFill>
                  <a:srgbClr val="FFFFFF"/>
                </a:solidFill>
                <a:latin typeface="Arial"/>
              </a:defRPr>
            </a:pPr>
            <a:r>
              <a:t>✓ Turf.js Deterministic Geofencing</a:t>
            </a:r>
          </a:p>
          <a:p>
            <a:pPr>
              <a:spcAft>
                <a:spcPts val="600"/>
              </a:spcAft>
              <a:defRPr sz="1100">
                <a:solidFill>
                  <a:srgbClr val="FFFFFF"/>
                </a:solidFill>
                <a:latin typeface="Arial"/>
              </a:defRPr>
            </a:pPr>
            <a:r>
              <a:t>✓ Google Gemini 3.5 Flash (Sub-1.5s)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latin typeface="Arial"/>
              </a:defRPr>
            </a:pPr>
            <a:r>
              <a:t>SMART INDIA HACKATHON 2026 | ISRO PS 176</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FFFFFF"/>
                </a:solidFill>
                <a:latin typeface="Arial"/>
              </a:defRPr>
            </a:pPr>
            <a:r>
              <a:t>Full Production Tech Stack: Single Runtime Monolith</a:t>
            </a:r>
          </a:p>
        </p:txBody>
      </p:sp>
      <p:sp>
        <p:nvSpPr>
          <p:cNvPr id="4" name="Rectangle 3"/>
          <p:cNvSpPr/>
          <p:nvPr/>
        </p:nvSpPr>
        <p:spPr>
          <a:xfrm>
            <a:off x="731520" y="1234440"/>
            <a:ext cx="10698480" cy="2743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87680">
                <a:tc>
                  <a:txBody>
                    <a:bodyPr/>
                    <a:lstStyle/>
                    <a:p>
                      <a:pPr>
                        <a:defRPr sz="1100" b="1">
                          <a:solidFill>
                            <a:srgbClr val="0EA5E9"/>
                          </a:solidFill>
                          <a:latin typeface="Arial"/>
                        </a:defRPr>
                      </a:pPr>
                      <a:r>
                        <a:t>Layer</a:t>
                      </a:r>
                    </a:p>
                  </a:txBody>
                  <a:tcPr anchor="ctr">
                    <a:solidFill>
                      <a:srgbClr val="283C64"/>
                    </a:solidFill>
                  </a:tcPr>
                </a:tc>
                <a:tc>
                  <a:txBody>
                    <a:bodyPr/>
                    <a:lstStyle/>
                    <a:p>
                      <a:pPr>
                        <a:defRPr sz="1100" b="1">
                          <a:solidFill>
                            <a:srgbClr val="0EA5E9"/>
                          </a:solidFill>
                          <a:latin typeface="Arial"/>
                        </a:defRPr>
                      </a:pPr>
                      <a:r>
                        <a:t>Selected Technology</a:t>
                      </a:r>
                    </a:p>
                  </a:txBody>
                  <a:tcPr anchor="ctr">
                    <a:solidFill>
                      <a:srgbClr val="283C64"/>
                    </a:solidFill>
                  </a:tcPr>
                </a:tc>
                <a:tc>
                  <a:txBody>
                    <a:bodyPr/>
                    <a:lstStyle/>
                    <a:p>
                      <a:pPr>
                        <a:defRPr sz="1100" b="1">
                          <a:solidFill>
                            <a:srgbClr val="0EA5E9"/>
                          </a:solidFill>
                          <a:latin typeface="Arial"/>
                        </a:defRPr>
                      </a:pPr>
                      <a:r>
                        <a:t>Why Chosen (Engineering Justification)</a:t>
                      </a:r>
                    </a:p>
                  </a:txBody>
                  <a:tcPr anchor="ctr">
                    <a:solidFill>
                      <a:srgbClr val="283C64"/>
                    </a:solidFill>
                  </a:tcPr>
                </a:tc>
                <a:tc>
                  <a:txBody>
                    <a:bodyPr/>
                    <a:lstStyle/>
                    <a:p>
                      <a:pPr>
                        <a:defRPr sz="1100" b="1">
                          <a:solidFill>
                            <a:srgbClr val="0EA5E9"/>
                          </a:solidFill>
                          <a:latin typeface="Arial"/>
                        </a:defRPr>
                      </a:pPr>
                      <a:r>
                        <a:t>Competitor Baseline</a:t>
                      </a:r>
                    </a:p>
                  </a:txBody>
                  <a:tcPr anchor="ctr">
                    <a:solidFill>
                      <a:srgbClr val="283C64"/>
                    </a:solidFill>
                  </a:tcPr>
                </a:tc>
                <a:extLst>
                  <a:ext uri="{0D108BD9-81ED-4DB2-BD59-A6C34878D82A}">
                    <a16:rowId xmlns:a16="http://schemas.microsoft.com/office/drawing/2014/main" val="10000"/>
                  </a:ext>
                </a:extLst>
              </a:tr>
              <a:tr h="487680">
                <a:tc>
                  <a:txBody>
                    <a:bodyPr/>
                    <a:lstStyle/>
                    <a:p>
                      <a:pPr>
                        <a:defRPr sz="1000">
                          <a:solidFill>
                            <a:srgbClr val="FFFFFF"/>
                          </a:solidFill>
                          <a:latin typeface="Arial"/>
                        </a:defRPr>
                      </a:pPr>
                      <a:r>
                        <a:t>Frontend &amp; SSR</a:t>
                      </a:r>
                    </a:p>
                  </a:txBody>
                  <a:tcPr anchor="ctr">
                    <a:solidFill>
                      <a:srgbClr val="101A32"/>
                    </a:solidFill>
                  </a:tcPr>
                </a:tc>
                <a:tc>
                  <a:txBody>
                    <a:bodyPr/>
                    <a:lstStyle/>
                    <a:p>
                      <a:pPr>
                        <a:defRPr sz="1000" b="1">
                          <a:solidFill>
                            <a:srgbClr val="FFFFFF"/>
                          </a:solidFill>
                          <a:latin typeface="Arial"/>
                        </a:defRPr>
                      </a:pPr>
                      <a:r>
                        <a:t>Next.js 15 (App Router) + TS</a:t>
                      </a:r>
                    </a:p>
                  </a:txBody>
                  <a:tcPr anchor="ctr">
                    <a:solidFill>
                      <a:srgbClr val="101A32"/>
                    </a:solidFill>
                  </a:tcPr>
                </a:tc>
                <a:tc>
                  <a:txBody>
                    <a:bodyPr/>
                    <a:lstStyle/>
                    <a:p>
                      <a:pPr>
                        <a:defRPr sz="1000">
                          <a:solidFill>
                            <a:srgbClr val="FFFFFF"/>
                          </a:solidFill>
                          <a:latin typeface="Arial"/>
                        </a:defRPr>
                      </a:pPr>
                      <a:r>
                        <a:t>Single runtime (`npm run dev`), SSR, 3.5s compile, zero CORS</a:t>
                      </a:r>
                    </a:p>
                  </a:txBody>
                  <a:tcPr anchor="ctr">
                    <a:solidFill>
                      <a:srgbClr val="101A32"/>
                    </a:solidFill>
                  </a:tcPr>
                </a:tc>
                <a:tc>
                  <a:txBody>
                    <a:bodyPr/>
                    <a:lstStyle/>
                    <a:p>
                      <a:pPr>
                        <a:defRPr sz="1000">
                          <a:solidFill>
                            <a:srgbClr val="94A3B8"/>
                          </a:solidFill>
                          <a:latin typeface="Arial"/>
                        </a:defRPr>
                      </a:pPr>
                      <a:r>
                        <a:t>Fragile React+Vite proxy</a:t>
                      </a:r>
                    </a:p>
                  </a:txBody>
                  <a:tcPr anchor="ctr">
                    <a:solidFill>
                      <a:srgbClr val="101A32"/>
                    </a:solidFill>
                  </a:tcPr>
                </a:tc>
                <a:extLst>
                  <a:ext uri="{0D108BD9-81ED-4DB2-BD59-A6C34878D82A}">
                    <a16:rowId xmlns:a16="http://schemas.microsoft.com/office/drawing/2014/main" val="10001"/>
                  </a:ext>
                </a:extLst>
              </a:tr>
              <a:tr h="487680">
                <a:tc>
                  <a:txBody>
                    <a:bodyPr/>
                    <a:lstStyle/>
                    <a:p>
                      <a:pPr>
                        <a:defRPr sz="1000">
                          <a:solidFill>
                            <a:srgbClr val="FFFFFF"/>
                          </a:solidFill>
                          <a:latin typeface="Arial"/>
                        </a:defRPr>
                      </a:pPr>
                      <a:r>
                        <a:t>Map Engine</a:t>
                      </a:r>
                    </a:p>
                  </a:txBody>
                  <a:tcPr anchor="ctr">
                    <a:solidFill>
                      <a:srgbClr val="15203C"/>
                    </a:solidFill>
                  </a:tcPr>
                </a:tc>
                <a:tc>
                  <a:txBody>
                    <a:bodyPr/>
                    <a:lstStyle/>
                    <a:p>
                      <a:pPr>
                        <a:defRPr sz="1000" b="1">
                          <a:solidFill>
                            <a:srgbClr val="FFFFFF"/>
                          </a:solidFill>
                          <a:latin typeface="Arial"/>
                        </a:defRPr>
                      </a:pPr>
                      <a:r>
                        <a:t>MapLibre GL 5.x (WebGL/GPU)</a:t>
                      </a:r>
                    </a:p>
                  </a:txBody>
                  <a:tcPr anchor="ctr">
                    <a:solidFill>
                      <a:srgbClr val="15203C"/>
                    </a:solidFill>
                  </a:tcPr>
                </a:tc>
                <a:tc>
                  <a:txBody>
                    <a:bodyPr/>
                    <a:lstStyle/>
                    <a:p>
                      <a:pPr>
                        <a:defRPr sz="1000">
                          <a:solidFill>
                            <a:srgbClr val="FFFFFF"/>
                          </a:solidFill>
                          <a:latin typeface="Arial"/>
                        </a:defRPr>
                      </a:pPr>
                      <a:r>
                        <a:t>Open-source, direct WMS raster &amp; GeoJSON vector hardware rendering</a:t>
                      </a:r>
                    </a:p>
                  </a:txBody>
                  <a:tcPr anchor="ctr">
                    <a:solidFill>
                      <a:srgbClr val="15203C"/>
                    </a:solidFill>
                  </a:tcPr>
                </a:tc>
                <a:tc>
                  <a:txBody>
                    <a:bodyPr/>
                    <a:lstStyle/>
                    <a:p>
                      <a:pPr>
                        <a:defRPr sz="1000">
                          <a:solidFill>
                            <a:srgbClr val="94A3B8"/>
                          </a:solidFill>
                          <a:latin typeface="Arial"/>
                        </a:defRPr>
                      </a:pPr>
                      <a:r>
                        <a:t>Mapbox token lock-in / Leaflet</a:t>
                      </a:r>
                    </a:p>
                  </a:txBody>
                  <a:tcPr anchor="ctr">
                    <a:solidFill>
                      <a:srgbClr val="15203C"/>
                    </a:solidFill>
                  </a:tcPr>
                </a:tc>
                <a:extLst>
                  <a:ext uri="{0D108BD9-81ED-4DB2-BD59-A6C34878D82A}">
                    <a16:rowId xmlns:a16="http://schemas.microsoft.com/office/drawing/2014/main" val="10002"/>
                  </a:ext>
                </a:extLst>
              </a:tr>
              <a:tr h="487680">
                <a:tc>
                  <a:txBody>
                    <a:bodyPr/>
                    <a:lstStyle/>
                    <a:p>
                      <a:pPr>
                        <a:defRPr sz="1000">
                          <a:solidFill>
                            <a:srgbClr val="FFFFFF"/>
                          </a:solidFill>
                          <a:latin typeface="Arial"/>
                        </a:defRPr>
                      </a:pPr>
                      <a:r>
                        <a:t>Primary Cloud AI</a:t>
                      </a:r>
                    </a:p>
                  </a:txBody>
                  <a:tcPr anchor="ctr">
                    <a:solidFill>
                      <a:srgbClr val="101A32"/>
                    </a:solidFill>
                  </a:tcPr>
                </a:tc>
                <a:tc>
                  <a:txBody>
                    <a:bodyPr/>
                    <a:lstStyle/>
                    <a:p>
                      <a:pPr>
                        <a:defRPr sz="1000" b="1">
                          <a:solidFill>
                            <a:srgbClr val="FFFFFF"/>
                          </a:solidFill>
                          <a:latin typeface="Arial"/>
                        </a:defRPr>
                      </a:pPr>
                      <a:r>
                        <a:t>Google Gemini 3.5 Flash-Lite</a:t>
                      </a:r>
                    </a:p>
                  </a:txBody>
                  <a:tcPr anchor="ctr">
                    <a:solidFill>
                      <a:srgbClr val="101A32"/>
                    </a:solidFill>
                  </a:tcPr>
                </a:tc>
                <a:tc>
                  <a:txBody>
                    <a:bodyPr/>
                    <a:lstStyle/>
                    <a:p>
                      <a:pPr>
                        <a:defRPr sz="1000">
                          <a:solidFill>
                            <a:srgbClr val="FFFFFF"/>
                          </a:solidFill>
                          <a:latin typeface="Arial"/>
                        </a:defRPr>
                      </a:pPr>
                      <a:r>
                        <a:t>Sub-1.5s latency, 100% availability, factual groundability</a:t>
                      </a:r>
                    </a:p>
                  </a:txBody>
                  <a:tcPr anchor="ctr">
                    <a:solidFill>
                      <a:srgbClr val="101A32"/>
                    </a:solidFill>
                  </a:tcPr>
                </a:tc>
                <a:tc>
                  <a:txBody>
                    <a:bodyPr/>
                    <a:lstStyle/>
                    <a:p>
                      <a:pPr>
                        <a:defRPr sz="1000">
                          <a:solidFill>
                            <a:srgbClr val="94A3B8"/>
                          </a:solidFill>
                          <a:latin typeface="Arial"/>
                        </a:defRPr>
                      </a:pPr>
                      <a:r>
                        <a:t>Gemini 3.8 (503 demand spikes)</a:t>
                      </a:r>
                    </a:p>
                  </a:txBody>
                  <a:tcPr anchor="ctr">
                    <a:solidFill>
                      <a:srgbClr val="101A32"/>
                    </a:solidFill>
                  </a:tcPr>
                </a:tc>
                <a:extLst>
                  <a:ext uri="{0D108BD9-81ED-4DB2-BD59-A6C34878D82A}">
                    <a16:rowId xmlns:a16="http://schemas.microsoft.com/office/drawing/2014/main" val="10003"/>
                  </a:ext>
                </a:extLst>
              </a:tr>
              <a:tr h="487680">
                <a:tc>
                  <a:txBody>
                    <a:bodyPr/>
                    <a:lstStyle/>
                    <a:p>
                      <a:pPr>
                        <a:defRPr sz="1000">
                          <a:solidFill>
                            <a:srgbClr val="FFFFFF"/>
                          </a:solidFill>
                          <a:latin typeface="Arial"/>
                        </a:defRPr>
                      </a:pPr>
                      <a:r>
                        <a:t>Edge Offline AI</a:t>
                      </a:r>
                    </a:p>
                  </a:txBody>
                  <a:tcPr anchor="ctr">
                    <a:solidFill>
                      <a:srgbClr val="15203C"/>
                    </a:solidFill>
                  </a:tcPr>
                </a:tc>
                <a:tc>
                  <a:txBody>
                    <a:bodyPr/>
                    <a:lstStyle/>
                    <a:p>
                      <a:pPr>
                        <a:defRPr sz="1000" b="1">
                          <a:solidFill>
                            <a:srgbClr val="FFFFFF"/>
                          </a:solidFill>
                          <a:latin typeface="Arial"/>
                        </a:defRPr>
                      </a:pPr>
                      <a:r>
                        <a:t>Ollama (llama3.2:3b / qwen3.5)</a:t>
                      </a:r>
                    </a:p>
                  </a:txBody>
                  <a:tcPr anchor="ctr">
                    <a:solidFill>
                      <a:srgbClr val="15203C"/>
                    </a:solidFill>
                  </a:tcPr>
                </a:tc>
                <a:tc>
                  <a:txBody>
                    <a:bodyPr/>
                    <a:lstStyle/>
                    <a:p>
                      <a:pPr>
                        <a:defRPr sz="1000">
                          <a:solidFill>
                            <a:srgbClr val="FFFFFF"/>
                          </a:solidFill>
                          <a:latin typeface="Arial"/>
                        </a:defRPr>
                      </a:pPr>
                      <a:r>
                        <a:t>Fully functional at sea without 4G/5G internet connectivity</a:t>
                      </a:r>
                    </a:p>
                  </a:txBody>
                  <a:tcPr anchor="ctr">
                    <a:solidFill>
                      <a:srgbClr val="15203C"/>
                    </a:solidFill>
                  </a:tcPr>
                </a:tc>
                <a:tc>
                  <a:txBody>
                    <a:bodyPr/>
                    <a:lstStyle/>
                    <a:p>
                      <a:pPr>
                        <a:defRPr sz="1000">
                          <a:solidFill>
                            <a:srgbClr val="94A3B8"/>
                          </a:solidFill>
                          <a:latin typeface="Arial"/>
                        </a:defRPr>
                      </a:pPr>
                      <a:r>
                        <a:t>Cloud-only failure offshore</a:t>
                      </a:r>
                    </a:p>
                  </a:txBody>
                  <a:tcPr anchor="ctr">
                    <a:solidFill>
                      <a:srgbClr val="15203C"/>
                    </a:solidFill>
                  </a:tcPr>
                </a:tc>
                <a:extLst>
                  <a:ext uri="{0D108BD9-81ED-4DB2-BD59-A6C34878D82A}">
                    <a16:rowId xmlns:a16="http://schemas.microsoft.com/office/drawing/2014/main" val="10004"/>
                  </a:ext>
                </a:extLst>
              </a:tr>
              <a:tr h="487680">
                <a:tc>
                  <a:txBody>
                    <a:bodyPr/>
                    <a:lstStyle/>
                    <a:p>
                      <a:pPr>
                        <a:defRPr sz="1000">
                          <a:solidFill>
                            <a:srgbClr val="FFFFFF"/>
                          </a:solidFill>
                          <a:latin typeface="Arial"/>
                        </a:defRPr>
                      </a:pPr>
                      <a:r>
                        <a:t>Geospatial Math</a:t>
                      </a:r>
                    </a:p>
                  </a:txBody>
                  <a:tcPr anchor="ctr">
                    <a:solidFill>
                      <a:srgbClr val="101A32"/>
                    </a:solidFill>
                  </a:tcPr>
                </a:tc>
                <a:tc>
                  <a:txBody>
                    <a:bodyPr/>
                    <a:lstStyle/>
                    <a:p>
                      <a:pPr>
                        <a:defRPr sz="1000" b="1">
                          <a:solidFill>
                            <a:srgbClr val="FFFFFF"/>
                          </a:solidFill>
                          <a:latin typeface="Arial"/>
                        </a:defRPr>
                      </a:pPr>
                      <a:r>
                        <a:t>Turf.js (@turf/turf)</a:t>
                      </a:r>
                    </a:p>
                  </a:txBody>
                  <a:tcPr anchor="ctr">
                    <a:solidFill>
                      <a:srgbClr val="101A32"/>
                    </a:solidFill>
                  </a:tcPr>
                </a:tc>
                <a:tc>
                  <a:txBody>
                    <a:bodyPr/>
                    <a:lstStyle/>
                    <a:p>
                      <a:pPr>
                        <a:defRPr sz="1000">
                          <a:solidFill>
                            <a:srgbClr val="FFFFFF"/>
                          </a:solidFill>
                          <a:latin typeface="Arial"/>
                        </a:defRPr>
                      </a:pPr>
                      <a:r>
                        <a:t>WGS-84 Haversine spherical math; zero LLM border hallucinations</a:t>
                      </a:r>
                    </a:p>
                  </a:txBody>
                  <a:tcPr anchor="ctr">
                    <a:solidFill>
                      <a:srgbClr val="101A32"/>
                    </a:solidFill>
                  </a:tcPr>
                </a:tc>
                <a:tc>
                  <a:txBody>
                    <a:bodyPr/>
                    <a:lstStyle/>
                    <a:p>
                      <a:pPr>
                        <a:defRPr sz="1000">
                          <a:solidFill>
                            <a:srgbClr val="94A3B8"/>
                          </a:solidFill>
                          <a:latin typeface="Arial"/>
                        </a:defRPr>
                      </a:pPr>
                      <a:r>
                        <a:t>LLM coordinate guessing</a:t>
                      </a:r>
                    </a:p>
                  </a:txBody>
                  <a:tcPr anchor="ctr">
                    <a:solidFill>
                      <a:srgbClr val="101A32"/>
                    </a:solidFill>
                  </a:tcPr>
                </a:tc>
                <a:extLst>
                  <a:ext uri="{0D108BD9-81ED-4DB2-BD59-A6C34878D82A}">
                    <a16:rowId xmlns:a16="http://schemas.microsoft.com/office/drawing/2014/main" val="10005"/>
                  </a:ext>
                </a:extLst>
              </a:tr>
              <a:tr h="487680">
                <a:tc>
                  <a:txBody>
                    <a:bodyPr/>
                    <a:lstStyle/>
                    <a:p>
                      <a:pPr>
                        <a:defRPr sz="1000">
                          <a:solidFill>
                            <a:srgbClr val="FFFFFF"/>
                          </a:solidFill>
                          <a:latin typeface="Arial"/>
                        </a:defRPr>
                      </a:pPr>
                      <a:r>
                        <a:t>Satellite Feeds</a:t>
                      </a:r>
                    </a:p>
                  </a:txBody>
                  <a:tcPr anchor="ctr">
                    <a:solidFill>
                      <a:srgbClr val="15203C"/>
                    </a:solidFill>
                  </a:tcPr>
                </a:tc>
                <a:tc>
                  <a:txBody>
                    <a:bodyPr/>
                    <a:lstStyle/>
                    <a:p>
                      <a:pPr>
                        <a:defRPr sz="1000" b="1">
                          <a:solidFill>
                            <a:srgbClr val="FFFFFF"/>
                          </a:solidFill>
                          <a:latin typeface="Arial"/>
                        </a:defRPr>
                      </a:pPr>
                      <a:r>
                        <a:t>NASA GIBS &amp; INCOIS GeoServer</a:t>
                      </a:r>
                    </a:p>
                  </a:txBody>
                  <a:tcPr anchor="ctr">
                    <a:solidFill>
                      <a:srgbClr val="15203C"/>
                    </a:solidFill>
                  </a:tcPr>
                </a:tc>
                <a:tc>
                  <a:txBody>
                    <a:bodyPr/>
                    <a:lstStyle/>
                    <a:p>
                      <a:pPr>
                        <a:defRPr sz="1000">
                          <a:solidFill>
                            <a:srgbClr val="FFFFFF"/>
                          </a:solidFill>
                          <a:latin typeface="Arial"/>
                        </a:defRPr>
                      </a:pPr>
                      <a:r>
                        <a:t>Daily MODIS TrueColor, GHRSST SST, Chlorophyll-a, Coral &amp; PFZ lines</a:t>
                      </a:r>
                    </a:p>
                  </a:txBody>
                  <a:tcPr anchor="ctr">
                    <a:solidFill>
                      <a:srgbClr val="15203C"/>
                    </a:solidFill>
                  </a:tcPr>
                </a:tc>
                <a:tc>
                  <a:txBody>
                    <a:bodyPr/>
                    <a:lstStyle/>
                    <a:p>
                      <a:pPr>
                        <a:defRPr sz="1000">
                          <a:solidFill>
                            <a:srgbClr val="94A3B8"/>
                          </a:solidFill>
                          <a:latin typeface="Arial"/>
                        </a:defRPr>
                      </a:pPr>
                      <a:r>
                        <a:t>Static mocked images</a:t>
                      </a:r>
                    </a:p>
                  </a:txBody>
                  <a:tcPr anchor="ctr">
                    <a:solidFill>
                      <a:srgbClr val="15203C"/>
                    </a:solidFill>
                  </a:tcPr>
                </a:tc>
                <a:extLst>
                  <a:ext uri="{0D108BD9-81ED-4DB2-BD59-A6C34878D82A}">
                    <a16:rowId xmlns:a16="http://schemas.microsoft.com/office/drawing/2014/main" val="10006"/>
                  </a:ext>
                </a:extLst>
              </a:tr>
              <a:tr h="487680">
                <a:tc>
                  <a:txBody>
                    <a:bodyPr/>
                    <a:lstStyle/>
                    <a:p>
                      <a:pPr>
                        <a:defRPr sz="1000">
                          <a:solidFill>
                            <a:srgbClr val="FFFFFF"/>
                          </a:solidFill>
                          <a:latin typeface="Arial"/>
                        </a:defRPr>
                      </a:pPr>
                      <a:r>
                        <a:t>Vessel Fleet AIS</a:t>
                      </a:r>
                    </a:p>
                  </a:txBody>
                  <a:tcPr anchor="ctr">
                    <a:solidFill>
                      <a:srgbClr val="101A32"/>
                    </a:solidFill>
                  </a:tcPr>
                </a:tc>
                <a:tc>
                  <a:txBody>
                    <a:bodyPr/>
                    <a:lstStyle/>
                    <a:p>
                      <a:pPr>
                        <a:defRPr sz="1000" b="1">
                          <a:solidFill>
                            <a:srgbClr val="FFFFFF"/>
                          </a:solidFill>
                          <a:latin typeface="Arial"/>
                        </a:defRPr>
                      </a:pPr>
                      <a:r>
                        <a:t>AISStream WebSocket</a:t>
                      </a:r>
                    </a:p>
                  </a:txBody>
                  <a:tcPr anchor="ctr">
                    <a:solidFill>
                      <a:srgbClr val="101A32"/>
                    </a:solidFill>
                  </a:tcPr>
                </a:tc>
                <a:tc>
                  <a:txBody>
                    <a:bodyPr/>
                    <a:lstStyle/>
                    <a:p>
                      <a:pPr>
                        <a:defRPr sz="1000">
                          <a:solidFill>
                            <a:srgbClr val="FFFFFF"/>
                          </a:solidFill>
                          <a:latin typeface="Arial"/>
                        </a:defRPr>
                      </a:pPr>
                      <a:r>
                        <a:t>Real-time NMEA AIS packets streaming across Indian EEZ</a:t>
                      </a:r>
                    </a:p>
                  </a:txBody>
                  <a:tcPr anchor="ctr">
                    <a:solidFill>
                      <a:srgbClr val="101A32"/>
                    </a:solidFill>
                  </a:tcPr>
                </a:tc>
                <a:tc>
                  <a:txBody>
                    <a:bodyPr/>
                    <a:lstStyle/>
                    <a:p>
                      <a:pPr>
                        <a:defRPr sz="1000">
                          <a:solidFill>
                            <a:srgbClr val="94A3B8"/>
                          </a:solidFill>
                          <a:latin typeface="Arial"/>
                        </a:defRPr>
                      </a:pPr>
                      <a:r>
                        <a:t>Hardcoded dummy ship arrays</a:t>
                      </a:r>
                    </a:p>
                  </a:txBody>
                  <a:tcPr anchor="ctr">
                    <a:solidFill>
                      <a:srgbClr val="101A32"/>
                    </a:solidFill>
                  </a:tcPr>
                </a:tc>
                <a:extLst>
                  <a:ext uri="{0D108BD9-81ED-4DB2-BD59-A6C34878D82A}">
                    <a16:rowId xmlns:a16="http://schemas.microsoft.com/office/drawing/2014/main" val="10007"/>
                  </a:ext>
                </a:extLst>
              </a:tr>
              <a:tr h="487680">
                <a:tc>
                  <a:txBody>
                    <a:bodyPr/>
                    <a:lstStyle/>
                    <a:p>
                      <a:pPr>
                        <a:defRPr sz="1000">
                          <a:solidFill>
                            <a:srgbClr val="FFFFFF"/>
                          </a:solidFill>
                          <a:latin typeface="Arial"/>
                        </a:defRPr>
                      </a:pPr>
                      <a:r>
                        <a:t>Atmospheric APIs</a:t>
                      </a:r>
                    </a:p>
                  </a:txBody>
                  <a:tcPr anchor="ctr">
                    <a:solidFill>
                      <a:srgbClr val="15203C"/>
                    </a:solidFill>
                  </a:tcPr>
                </a:tc>
                <a:tc>
                  <a:txBody>
                    <a:bodyPr/>
                    <a:lstStyle/>
                    <a:p>
                      <a:pPr>
                        <a:defRPr sz="1000" b="1">
                          <a:solidFill>
                            <a:srgbClr val="FFFFFF"/>
                          </a:solidFill>
                          <a:latin typeface="Arial"/>
                        </a:defRPr>
                      </a:pPr>
                      <a:r>
                        <a:t>Open-Meteo Marine / Weather</a:t>
                      </a:r>
                    </a:p>
                  </a:txBody>
                  <a:tcPr anchor="ctr">
                    <a:solidFill>
                      <a:srgbClr val="15203C"/>
                    </a:solidFill>
                  </a:tcPr>
                </a:tc>
                <a:tc>
                  <a:txBody>
                    <a:bodyPr/>
                    <a:lstStyle/>
                    <a:p>
                      <a:pPr>
                        <a:defRPr sz="1000">
                          <a:solidFill>
                            <a:srgbClr val="FFFFFF"/>
                          </a:solidFill>
                          <a:latin typeface="Arial"/>
                        </a:defRPr>
                      </a:pPr>
                      <a:r>
                        <a:t>Hourly waves, swells, currents, Beaufort scale, pressure with Zod validation</a:t>
                      </a:r>
                    </a:p>
                  </a:txBody>
                  <a:tcPr anchor="ctr">
                    <a:solidFill>
                      <a:srgbClr val="15203C"/>
                    </a:solidFill>
                  </a:tcPr>
                </a:tc>
                <a:tc>
                  <a:txBody>
                    <a:bodyPr/>
                    <a:lstStyle/>
                    <a:p>
                      <a:pPr>
                        <a:defRPr sz="1000">
                          <a:solidFill>
                            <a:srgbClr val="94A3B8"/>
                          </a:solidFill>
                          <a:latin typeface="Arial"/>
                        </a:defRPr>
                      </a:pPr>
                      <a:r>
                        <a:t>Static CSV / dummy numbers</a:t>
                      </a:r>
                    </a:p>
                  </a:txBody>
                  <a:tcPr anchor="ctr">
                    <a:solidFill>
                      <a:srgbClr val="15203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latin typeface="Arial"/>
              </a:defRPr>
            </a:pPr>
            <a:r>
              <a:t>SMART INDIA HACKATHON 2026 | ISRO PS 176</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FFFFFF"/>
                </a:solidFill>
                <a:latin typeface="Arial"/>
              </a:defRPr>
            </a:pPr>
            <a:r>
              <a:t>The Maritime Crisis: Why Traditional Systems Fail</a:t>
            </a:r>
          </a:p>
        </p:txBody>
      </p:sp>
      <p:sp>
        <p:nvSpPr>
          <p:cNvPr id="4" name="Rectangle 3"/>
          <p:cNvSpPr/>
          <p:nvPr/>
        </p:nvSpPr>
        <p:spPr>
          <a:xfrm>
            <a:off x="731520" y="1234440"/>
            <a:ext cx="10698480" cy="2743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3429000" cy="4389120"/>
          </a:xfrm>
          <a:prstGeom prst="roundRect">
            <a:avLst/>
          </a:prstGeom>
          <a:solidFill>
            <a:srgbClr val="15203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spcAft>
                <a:spcPts val="1400"/>
              </a:spcAft>
              <a:defRPr sz="1600" b="1">
                <a:solidFill>
                  <a:srgbClr val="F59E0B"/>
                </a:solidFill>
                <a:latin typeface="Arial"/>
              </a:defRPr>
            </a:pPr>
            <a:r>
              <a:rPr dirty="0"/>
              <a:t>1. Disjointed Marine Bulletins</a:t>
            </a:r>
          </a:p>
          <a:p>
            <a:pPr>
              <a:spcAft>
                <a:spcPts val="1400"/>
              </a:spcAft>
              <a:defRPr sz="1200">
                <a:solidFill>
                  <a:srgbClr val="FFFFFF"/>
                </a:solidFill>
                <a:latin typeface="Arial"/>
              </a:defRPr>
            </a:pPr>
            <a:r>
              <a:rPr dirty="0"/>
              <a:t>Weather, wave height, and potential fishing zones are spread across separate text bulletins and PDF portals. Artisanal fishers venture out without unified spatial intelligence, leading to preventable capsizing during monsoonal squalls.</a:t>
            </a:r>
          </a:p>
          <a:p>
            <a:pPr>
              <a:defRPr sz="1100" b="1">
                <a:solidFill>
                  <a:srgbClr val="0EA5E9"/>
                </a:solidFill>
                <a:latin typeface="Arial"/>
              </a:defRPr>
            </a:pPr>
            <a:r>
              <a:rPr dirty="0"/>
              <a:t>ISRO Evaluation Focus:</a:t>
            </a:r>
          </a:p>
          <a:p>
            <a:pPr>
              <a:defRPr sz="1100">
                <a:solidFill>
                  <a:srgbClr val="94A3B8"/>
                </a:solidFill>
                <a:latin typeface="Arial"/>
              </a:defRPr>
            </a:pPr>
            <a:r>
              <a:rPr dirty="0"/>
              <a:t>Unified multi-sensor spatial fusion (SST, Chlorophyll, Waves, Currents).</a:t>
            </a:r>
          </a:p>
        </p:txBody>
      </p:sp>
      <p:sp>
        <p:nvSpPr>
          <p:cNvPr id="6" name="Rounded Rectangle 5"/>
          <p:cNvSpPr/>
          <p:nvPr/>
        </p:nvSpPr>
        <p:spPr>
          <a:xfrm>
            <a:off x="4343400" y="1645920"/>
            <a:ext cx="3429000" cy="4389120"/>
          </a:xfrm>
          <a:prstGeom prst="roundRect">
            <a:avLst/>
          </a:prstGeom>
          <a:solidFill>
            <a:srgbClr val="15203C"/>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spcAft>
                <a:spcPts val="1400"/>
              </a:spcAft>
              <a:defRPr sz="1600" b="1">
                <a:solidFill>
                  <a:srgbClr val="EF4444"/>
                </a:solidFill>
                <a:latin typeface="Arial"/>
              </a:defRPr>
            </a:pPr>
            <a:r>
              <a:t>2. International Border Violations</a:t>
            </a:r>
          </a:p>
          <a:p>
            <a:pPr>
              <a:spcAft>
                <a:spcPts val="1400"/>
              </a:spcAft>
              <a:defRPr sz="1200">
                <a:solidFill>
                  <a:srgbClr val="FFFFFF"/>
                </a:solidFill>
                <a:latin typeface="Arial"/>
              </a:defRPr>
            </a:pPr>
            <a:r>
              <a:t>Over 500+ Indian fishermen are detained annually along the Indo-Pak IMBL (Sir Creek) and Indo-Sri Lanka maritime border. Traditional GPS charts give raw coordinates without proactive, distance-threshold collision warnings.</a:t>
            </a:r>
          </a:p>
          <a:p>
            <a:pPr>
              <a:defRPr sz="1100" b="1">
                <a:solidFill>
                  <a:srgbClr val="0EA5E9"/>
                </a:solidFill>
                <a:latin typeface="Arial"/>
              </a:defRPr>
            </a:pPr>
            <a:r>
              <a:t>ISRO Evaluation Focus:</a:t>
            </a:r>
          </a:p>
          <a:p>
            <a:pPr>
              <a:defRPr sz="1100">
                <a:solidFill>
                  <a:srgbClr val="94A3B8"/>
                </a:solidFill>
                <a:latin typeface="Arial"/>
              </a:defRPr>
            </a:pPr>
            <a:r>
              <a:t>Deterministic geofencing and zero-tolerance safety vetoes.</a:t>
            </a:r>
          </a:p>
        </p:txBody>
      </p:sp>
      <p:sp>
        <p:nvSpPr>
          <p:cNvPr id="7" name="Rounded Rectangle 6"/>
          <p:cNvSpPr/>
          <p:nvPr/>
        </p:nvSpPr>
        <p:spPr>
          <a:xfrm>
            <a:off x="7955280" y="1645920"/>
            <a:ext cx="3429000" cy="4389120"/>
          </a:xfrm>
          <a:prstGeom prst="roundRect">
            <a:avLst/>
          </a:prstGeom>
          <a:solidFill>
            <a:srgbClr val="15203C"/>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spcAft>
                <a:spcPts val="1400"/>
              </a:spcAft>
              <a:defRPr sz="1600" b="1">
                <a:solidFill>
                  <a:srgbClr val="0EA5E9"/>
                </a:solidFill>
                <a:latin typeface="Arial"/>
              </a:defRPr>
            </a:pPr>
            <a:r>
              <a:t>3. The 'ChatGPT Wrapper' Trap</a:t>
            </a:r>
          </a:p>
          <a:p>
            <a:pPr>
              <a:spcAft>
                <a:spcPts val="1400"/>
              </a:spcAft>
              <a:defRPr sz="1200">
                <a:solidFill>
                  <a:srgbClr val="FFFFFF"/>
                </a:solidFill>
                <a:latin typeface="Arial"/>
              </a:defRPr>
            </a:pPr>
            <a:r>
              <a:t>Generic LLMs hallucinate coordinates, invent sea temperatures, and fail to calculate spherical distances. Furthermore, cloud-only AI fails completely when vessels sail beyond the 12-nautical-mile 4G/5G coastal network range.</a:t>
            </a:r>
          </a:p>
          <a:p>
            <a:pPr>
              <a:defRPr sz="1100" b="1">
                <a:solidFill>
                  <a:srgbClr val="0EA5E9"/>
                </a:solidFill>
                <a:latin typeface="Arial"/>
              </a:defRPr>
            </a:pPr>
            <a:r>
              <a:t>ISRO Evaluation Focus:</a:t>
            </a:r>
          </a:p>
          <a:p>
            <a:pPr>
              <a:defRPr sz="1100">
                <a:solidFill>
                  <a:srgbClr val="94A3B8"/>
                </a:solidFill>
                <a:latin typeface="Arial"/>
              </a:defRPr>
            </a:pPr>
            <a:r>
              <a:t>Dual-tier AI with edge offline resilience (Ollama) at sea.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latin typeface="Arial"/>
              </a:defRPr>
            </a:pPr>
            <a:r>
              <a:t>SMART INDIA HACKATHON 2026 | ISRO PS 176</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FFFFFF"/>
                </a:solidFill>
                <a:latin typeface="Arial"/>
              </a:defRPr>
            </a:pPr>
            <a:r>
              <a:t>Aurexo Architecture: The 3 Pillars of Innovation</a:t>
            </a:r>
          </a:p>
        </p:txBody>
      </p:sp>
      <p:sp>
        <p:nvSpPr>
          <p:cNvPr id="4" name="Rectangle 3"/>
          <p:cNvSpPr/>
          <p:nvPr/>
        </p:nvSpPr>
        <p:spPr>
          <a:xfrm>
            <a:off x="731520" y="1234440"/>
            <a:ext cx="10698480" cy="2743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3429000" cy="4389120"/>
          </a:xfrm>
          <a:prstGeom prst="roundRect">
            <a:avLst/>
          </a:prstGeom>
          <a:solidFill>
            <a:srgbClr val="15203C"/>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400" b="1">
                <a:solidFill>
                  <a:srgbClr val="0EA5E9"/>
                </a:solidFill>
                <a:latin typeface="Arial"/>
              </a:defRPr>
            </a:pPr>
            <a:r>
              <a:t>Pillar 1: Collaborative Multi-Agent Swarm</a:t>
            </a:r>
          </a:p>
          <a:p>
            <a:pPr>
              <a:spcAft>
                <a:spcPts val="1000"/>
              </a:spcAft>
              <a:defRPr sz="1000" i="1">
                <a:solidFill>
                  <a:srgbClr val="38BDF8"/>
                </a:solidFill>
                <a:latin typeface="Arial"/>
              </a:defRPr>
            </a:pPr>
            <a:r>
              <a:t>Domain-Decomposed Autonomous Reasoning</a:t>
            </a:r>
          </a:p>
          <a:p>
            <a:pPr>
              <a:defRPr sz="1100">
                <a:solidFill>
                  <a:srgbClr val="FFFFFF"/>
                </a:solidFill>
                <a:latin typeface="Arial"/>
              </a:defRPr>
            </a:pPr>
            <a:r>
              <a:t>Rather than a monolithic prompt, Aurexo deploys 5 specialized agents:</a:t>
            </a:r>
            <a:br/>
            <a:r>
              <a:t>• Supervisor Agent: Decomposes tasks &amp; enforces safety</a:t>
            </a:r>
            <a:br/>
            <a:r>
              <a:t>• Oceanography Agent: Analyzes SST &amp; chlorophyll fronts</a:t>
            </a:r>
            <a:br/>
            <a:r>
              <a:t>• Geospatial Sentinel: Checks IMBL borders &amp; MPAs</a:t>
            </a:r>
            <a:br/>
            <a:r>
              <a:t>• Vessel Fleet Tracker: Ingests live AISStream telemetry</a:t>
            </a:r>
            <a:br/>
            <a:r>
              <a:t>• Blue Economy Advisor: Computes fuel savings &amp; PFZ yield</a:t>
            </a:r>
          </a:p>
        </p:txBody>
      </p:sp>
      <p:sp>
        <p:nvSpPr>
          <p:cNvPr id="6" name="Rounded Rectangle 5"/>
          <p:cNvSpPr/>
          <p:nvPr/>
        </p:nvSpPr>
        <p:spPr>
          <a:xfrm>
            <a:off x="4343400" y="1645920"/>
            <a:ext cx="3429000" cy="4389120"/>
          </a:xfrm>
          <a:prstGeom prst="roundRect">
            <a:avLst/>
          </a:prstGeom>
          <a:solidFill>
            <a:srgbClr val="15203C"/>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400" b="1">
                <a:solidFill>
                  <a:srgbClr val="EF4444"/>
                </a:solidFill>
                <a:latin typeface="Arial"/>
              </a:defRPr>
            </a:pPr>
            <a:r>
              <a:t>Pillar 2: Deterministic Mathematical Veto</a:t>
            </a:r>
          </a:p>
          <a:p>
            <a:pPr>
              <a:spcAft>
                <a:spcPts val="1000"/>
              </a:spcAft>
              <a:defRPr sz="1000" i="1">
                <a:solidFill>
                  <a:srgbClr val="38BDF8"/>
                </a:solidFill>
                <a:latin typeface="Arial"/>
              </a:defRPr>
            </a:pPr>
            <a:r>
              <a:t>Zero LLM Math • Zero Coordinate Hallucination</a:t>
            </a:r>
          </a:p>
          <a:p>
            <a:pPr>
              <a:defRPr sz="1100">
                <a:solidFill>
                  <a:srgbClr val="FFFFFF"/>
                </a:solidFill>
                <a:latin typeface="Arial"/>
              </a:defRPr>
            </a:pPr>
            <a:r>
              <a:t>Strict mathematical separation of concerns:</a:t>
            </a:r>
            <a:br/>
            <a:r>
              <a:t>• LLMs decide WHAT domain tools to invoke</a:t>
            </a:r>
            <a:br/>
            <a:r>
              <a:t>• Deterministic TypeScript (Turf.js) calculates distances</a:t>
            </a:r>
            <a:br/>
            <a:r>
              <a:t>• Spherical WGS-84 Haversine equations verify borders</a:t>
            </a:r>
            <a:br/>
            <a:r>
              <a:t>• HARD SAFETY VETO: If border distance &lt;12km, commercial recommendations are instantly aborted regardless of fish catch.</a:t>
            </a:r>
          </a:p>
        </p:txBody>
      </p:sp>
      <p:sp>
        <p:nvSpPr>
          <p:cNvPr id="7" name="Rounded Rectangle 6"/>
          <p:cNvSpPr/>
          <p:nvPr/>
        </p:nvSpPr>
        <p:spPr>
          <a:xfrm>
            <a:off x="7955280" y="1645920"/>
            <a:ext cx="3429000" cy="4389120"/>
          </a:xfrm>
          <a:prstGeom prst="roundRect">
            <a:avLst/>
          </a:prstGeom>
          <a:solidFill>
            <a:srgbClr val="15203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400" b="1">
                <a:solidFill>
                  <a:srgbClr val="10B981"/>
                </a:solidFill>
                <a:latin typeface="Arial"/>
              </a:defRPr>
            </a:pPr>
            <a:r>
              <a:t>Pillar 3: Dual-Tier Edge AI &amp; Space Ingestion</a:t>
            </a:r>
          </a:p>
          <a:p>
            <a:pPr>
              <a:spcAft>
                <a:spcPts val="1000"/>
              </a:spcAft>
              <a:defRPr sz="1000" i="1">
                <a:solidFill>
                  <a:srgbClr val="38BDF8"/>
                </a:solidFill>
                <a:latin typeface="Arial"/>
              </a:defRPr>
            </a:pPr>
            <a:r>
              <a:t>Real Satellites • Offline Resilience at Sea</a:t>
            </a:r>
          </a:p>
          <a:p>
            <a:pPr>
              <a:defRPr sz="1100">
                <a:solidFill>
                  <a:srgbClr val="FFFFFF"/>
                </a:solidFill>
                <a:latin typeface="Arial"/>
              </a:defRPr>
            </a:pPr>
            <a:r>
              <a:t>Designed for real operational constraints:</a:t>
            </a:r>
            <a:br/>
            <a:r>
              <a:t>• Primary Cloud: Google Gemini 3.5 Flash-Lite (sub-1.5s)</a:t>
            </a:r>
            <a:br/>
            <a:r>
              <a:t>• Coastal Edge: Local Ollama (llama3.2:3b) when offline</a:t>
            </a:r>
            <a:br/>
            <a:r>
              <a:t>• NASA GIBS WMS: Daily MODIS TrueColor &amp; GHRSST SST</a:t>
            </a:r>
            <a:br/>
            <a:r>
              <a:t>• INCOIS GeoServer WMS: Official Coral &amp; PFZ lines</a:t>
            </a:r>
            <a:br/>
            <a:r>
              <a:t>• Live AIS: Real-time vessels streaming across Indian EEZ</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latin typeface="Arial"/>
              </a:defRPr>
            </a:pPr>
            <a:r>
              <a:t>SMART INDIA HACKATHON 2026 | ISRO PS 176</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FFFFFF"/>
                </a:solidFill>
                <a:latin typeface="Arial"/>
              </a:defRPr>
            </a:pPr>
            <a:r>
              <a:t>End-to-End Multi-Agent Swarm Orchestration Workflow</a:t>
            </a:r>
          </a:p>
        </p:txBody>
      </p:sp>
      <p:sp>
        <p:nvSpPr>
          <p:cNvPr id="4" name="Rectangle 3"/>
          <p:cNvSpPr/>
          <p:nvPr/>
        </p:nvSpPr>
        <p:spPr>
          <a:xfrm>
            <a:off x="731520" y="1234440"/>
            <a:ext cx="10698480" cy="2743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10698480" cy="1097280"/>
          </a:xfrm>
          <a:prstGeom prst="roundRect">
            <a:avLst/>
          </a:prstGeom>
          <a:solidFill>
            <a:srgbClr val="101A32"/>
          </a:solidFill>
          <a:ln w="15240">
            <a:solidFill>
              <a:srgbClr val="283C64"/>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200" b="1">
                <a:solidFill>
                  <a:srgbClr val="0EA5E9"/>
                </a:solidFill>
              </a:defRPr>
            </a:pPr>
            <a:r>
              <a:t>1. INGESTION &amp; QUERY DISPATCH</a:t>
            </a:r>
          </a:p>
          <a:p>
            <a:pPr>
              <a:defRPr sz="1100">
                <a:solidFill>
                  <a:srgbClr val="FFFFFF"/>
                </a:solidFill>
              </a:defRPr>
            </a:pPr>
            <a:r>
              <a:t>User inputs voice/text prompt → Context Distiller normalizes intent → Supervisor Agent inspects domain requirements and triggers concurrent tool calls across specialized domain agents.</a:t>
            </a:r>
          </a:p>
        </p:txBody>
      </p:sp>
      <p:sp>
        <p:nvSpPr>
          <p:cNvPr id="6" name="Rounded Rectangle 5"/>
          <p:cNvSpPr/>
          <p:nvPr/>
        </p:nvSpPr>
        <p:spPr>
          <a:xfrm>
            <a:off x="731520" y="2926080"/>
            <a:ext cx="3429000" cy="1645920"/>
          </a:xfrm>
          <a:prstGeom prst="roundRect">
            <a:avLst/>
          </a:prstGeom>
          <a:solidFill>
            <a:srgbClr val="15203C"/>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spcAft>
                <a:spcPts val="600"/>
              </a:spcAft>
              <a:defRPr sz="1200" b="1">
                <a:solidFill>
                  <a:srgbClr val="0EA5E9"/>
                </a:solidFill>
              </a:defRPr>
            </a:pPr>
            <a:r>
              <a:t>Agent 1: Oceanography &amp; Weather</a:t>
            </a:r>
          </a:p>
          <a:p>
            <a:pPr>
              <a:defRPr sz="1000">
                <a:solidFill>
                  <a:srgbClr val="FFFFFF"/>
                </a:solidFill>
              </a:defRPr>
            </a:pPr>
            <a:r>
              <a:t>NASA GIBS SST + Chlorophyll-a WMS</a:t>
            </a:r>
            <a:br/>
            <a:r>
              <a:t>Open-Meteo Wave Height &amp; Swell</a:t>
            </a:r>
            <a:br/>
            <a:r>
              <a:t>Beaufort Scale Wind Dynamics</a:t>
            </a:r>
          </a:p>
        </p:txBody>
      </p:sp>
      <p:sp>
        <p:nvSpPr>
          <p:cNvPr id="7" name="Rounded Rectangle 6"/>
          <p:cNvSpPr/>
          <p:nvPr/>
        </p:nvSpPr>
        <p:spPr>
          <a:xfrm>
            <a:off x="4343400" y="2926080"/>
            <a:ext cx="3429000" cy="1645920"/>
          </a:xfrm>
          <a:prstGeom prst="roundRect">
            <a:avLst/>
          </a:prstGeom>
          <a:solidFill>
            <a:srgbClr val="15203C"/>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spcAft>
                <a:spcPts val="600"/>
              </a:spcAft>
              <a:defRPr sz="1200" b="1">
                <a:solidFill>
                  <a:srgbClr val="EF4444"/>
                </a:solidFill>
              </a:defRPr>
            </a:pPr>
            <a:r>
              <a:t>Agent 2: Geospatial Sentinel</a:t>
            </a:r>
          </a:p>
          <a:p>
            <a:pPr>
              <a:defRPr sz="1000">
                <a:solidFill>
                  <a:srgbClr val="FFFFFF"/>
                </a:solidFill>
              </a:defRPr>
            </a:pPr>
            <a:r>
              <a:t>Turf.js Geodesic Distance to IMBL</a:t>
            </a:r>
            <a:br/>
            <a:r>
              <a:t>UNCLOS EEZ Polygon Ingestion</a:t>
            </a:r>
            <a:br/>
            <a:r>
              <a:t>MPA Point-in-Polygon Check</a:t>
            </a:r>
          </a:p>
        </p:txBody>
      </p:sp>
      <p:sp>
        <p:nvSpPr>
          <p:cNvPr id="8" name="Rounded Rectangle 7"/>
          <p:cNvSpPr/>
          <p:nvPr/>
        </p:nvSpPr>
        <p:spPr>
          <a:xfrm>
            <a:off x="7955280" y="2926080"/>
            <a:ext cx="3429000" cy="1645920"/>
          </a:xfrm>
          <a:prstGeom prst="roundRect">
            <a:avLst/>
          </a:prstGeom>
          <a:solidFill>
            <a:srgbClr val="15203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spcAft>
                <a:spcPts val="600"/>
              </a:spcAft>
              <a:defRPr sz="1200" b="1">
                <a:solidFill>
                  <a:srgbClr val="10B981"/>
                </a:solidFill>
              </a:defRPr>
            </a:pPr>
            <a:r>
              <a:t>Agent 3: Vessel Fleet Tracker</a:t>
            </a:r>
          </a:p>
          <a:p>
            <a:pPr>
              <a:defRPr sz="1000">
                <a:solidFill>
                  <a:srgbClr val="FFFFFF"/>
                </a:solidFill>
              </a:defRPr>
            </a:pPr>
            <a:r>
              <a:t>AISStream WebSocket NMEA parsing</a:t>
            </a:r>
            <a:br/>
            <a:r>
              <a:t>Live Indian EEZ Vessel Locations</a:t>
            </a:r>
            <a:br/>
            <a:r>
              <a:t>Speed Over Ground &amp; Collision Risk</a:t>
            </a:r>
          </a:p>
        </p:txBody>
      </p:sp>
      <p:sp>
        <p:nvSpPr>
          <p:cNvPr id="9" name="Rounded Rectangle 8"/>
          <p:cNvSpPr/>
          <p:nvPr/>
        </p:nvSpPr>
        <p:spPr>
          <a:xfrm>
            <a:off x="731520" y="4754880"/>
            <a:ext cx="10698480" cy="1371600"/>
          </a:xfrm>
          <a:prstGeom prst="roundRect">
            <a:avLst/>
          </a:prstGeom>
          <a:solidFill>
            <a:srgbClr val="101A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200" b="1">
                <a:solidFill>
                  <a:srgbClr val="10B981"/>
                </a:solidFill>
              </a:defRPr>
            </a:pPr>
            <a:r>
              <a:t>2. DETERMINISTIC SAFETY VETO &amp; CONTEXT SYNTHESIS</a:t>
            </a:r>
          </a:p>
          <a:p>
            <a:pPr>
              <a:defRPr sz="1100">
                <a:solidFill>
                  <a:srgbClr val="FFFFFF"/>
                </a:solidFill>
              </a:defRPr>
            </a:pPr>
            <a:r>
              <a:t>Supervisor evaluates telemetry against strict physical thresholds. If danger is detected, an immutable safety veto is triggered. The verified facts and provenance payload are then passed to Google Gemini 3.5 Flash-Lite (or local Ollama) for zero-hallucination vernacular synthesis, streaming back to the Next.js WebGL interface in under 1.5 seconds.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latin typeface="Arial"/>
              </a:defRPr>
            </a:pPr>
            <a:r>
              <a:t>SMART INDIA HACKATHON 2026 | ISRO PS 176</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FFFFFF"/>
                </a:solidFill>
                <a:latin typeface="Arial"/>
              </a:defRPr>
            </a:pPr>
            <a:r>
              <a:t>Space-Borne Asset Ingestion: 100% Real Production Feeds</a:t>
            </a:r>
          </a:p>
        </p:txBody>
      </p:sp>
      <p:sp>
        <p:nvSpPr>
          <p:cNvPr id="4" name="Rectangle 3"/>
          <p:cNvSpPr/>
          <p:nvPr/>
        </p:nvSpPr>
        <p:spPr>
          <a:xfrm>
            <a:off x="731520" y="1234440"/>
            <a:ext cx="10698480" cy="2743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3429000" cy="4389120"/>
          </a:xfrm>
          <a:prstGeom prst="roundRect">
            <a:avLst/>
          </a:prstGeom>
          <a:solidFill>
            <a:srgbClr val="15203C"/>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400" b="1">
                <a:solidFill>
                  <a:srgbClr val="0EA5E9"/>
                </a:solidFill>
                <a:latin typeface="Arial"/>
              </a:defRPr>
            </a:pPr>
            <a:r>
              <a:t>NASA GIBS WMS / WMTS</a:t>
            </a:r>
          </a:p>
          <a:p>
            <a:pPr>
              <a:spcAft>
                <a:spcPts val="1000"/>
              </a:spcAft>
              <a:defRPr sz="1000" i="1">
                <a:solidFill>
                  <a:srgbClr val="38BDF8"/>
                </a:solidFill>
                <a:latin typeface="Arial"/>
              </a:defRPr>
            </a:pPr>
            <a:r>
              <a:t>MODIS Terra TrueColor &amp; GHRSST SST</a:t>
            </a:r>
          </a:p>
          <a:p>
            <a:pPr>
              <a:defRPr sz="1050">
                <a:solidFill>
                  <a:srgbClr val="FFFFFF"/>
                </a:solidFill>
                <a:latin typeface="Arial"/>
              </a:defRPr>
            </a:pPr>
            <a:r>
              <a:t>• Protocol: WMS 1.3.0 GetMap &amp; WMTS EPSG:3857</a:t>
            </a:r>
            <a:br/>
            <a:r>
              <a:t>• Layers: GHRSST_L4_AVHRR-OI_Sea_Surface_Temperature &amp; MODIS_Terra_L2_Chlorophyll_A</a:t>
            </a:r>
            <a:br/>
            <a:r>
              <a:t>• Temporal Resolution: Daily composites calculated with automatic dynamic sliding dates</a:t>
            </a:r>
            <a:br/>
            <a:r>
              <a:t>• Visual: TrueColor composite at Level 9 Google Maps compatible raster tiles</a:t>
            </a:r>
          </a:p>
        </p:txBody>
      </p:sp>
      <p:sp>
        <p:nvSpPr>
          <p:cNvPr id="6" name="Rounded Rectangle 5"/>
          <p:cNvSpPr/>
          <p:nvPr/>
        </p:nvSpPr>
        <p:spPr>
          <a:xfrm>
            <a:off x="4343400" y="1645920"/>
            <a:ext cx="3429000" cy="4389120"/>
          </a:xfrm>
          <a:prstGeom prst="roundRect">
            <a:avLst/>
          </a:prstGeom>
          <a:solidFill>
            <a:srgbClr val="15203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400" b="1">
                <a:solidFill>
                  <a:srgbClr val="10B981"/>
                </a:solidFill>
                <a:latin typeface="Arial"/>
              </a:defRPr>
            </a:pPr>
            <a:r>
              <a:t>INCOIS GeoServer WMS</a:t>
            </a:r>
          </a:p>
          <a:p>
            <a:pPr>
              <a:spcAft>
                <a:spcPts val="1000"/>
              </a:spcAft>
              <a:defRPr sz="1000" i="1">
                <a:solidFill>
                  <a:srgbClr val="38BDF8"/>
                </a:solidFill>
                <a:latin typeface="Arial"/>
              </a:defRPr>
            </a:pPr>
            <a:r>
              <a:t>Coral Reefs &amp; PFZ Advisory Demarcation</a:t>
            </a:r>
          </a:p>
          <a:p>
            <a:pPr>
              <a:defRPr sz="1050">
                <a:solidFill>
                  <a:srgbClr val="FFFFFF"/>
                </a:solidFill>
                <a:latin typeface="Arial"/>
              </a:defRPr>
            </a:pPr>
            <a:r>
              <a:t>• Protocol: WMS 1.1.1 GetMap transparent raster overlays</a:t>
            </a:r>
            <a:br/>
            <a:r>
              <a:t>• Coral Reef Atlas: EnergyAtlas:CORAL_AREAS</a:t>
            </a:r>
            <a:br/>
            <a:r>
              <a:t>• PFZ Demarcation Lines: PFZ_Automation:pfzlines</a:t>
            </a:r>
            <a:br/>
            <a:r>
              <a:t>• Vector Sectors: Verified oceanographic coordinates for Saurashtra, Malabar, and Coromandel coasts with target species guidelines</a:t>
            </a:r>
          </a:p>
        </p:txBody>
      </p:sp>
      <p:sp>
        <p:nvSpPr>
          <p:cNvPr id="7" name="Rounded Rectangle 6"/>
          <p:cNvSpPr/>
          <p:nvPr/>
        </p:nvSpPr>
        <p:spPr>
          <a:xfrm>
            <a:off x="7955280" y="1645920"/>
            <a:ext cx="3429000" cy="4389120"/>
          </a:xfrm>
          <a:prstGeom prst="roundRect">
            <a:avLst/>
          </a:prstGeom>
          <a:solidFill>
            <a:srgbClr val="15203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400" b="1">
                <a:solidFill>
                  <a:srgbClr val="F59E0B"/>
                </a:solidFill>
                <a:latin typeface="Arial"/>
              </a:defRPr>
            </a:pPr>
            <a:r>
              <a:t>AISStream Live Vessel Telemetry</a:t>
            </a:r>
          </a:p>
          <a:p>
            <a:pPr>
              <a:spcAft>
                <a:spcPts val="1000"/>
              </a:spcAft>
              <a:defRPr sz="1000" i="1">
                <a:solidFill>
                  <a:srgbClr val="38BDF8"/>
                </a:solidFill>
                <a:latin typeface="Arial"/>
              </a:defRPr>
            </a:pPr>
            <a:r>
              <a:t>Real-Time WebSocket AIS NMEA Packets</a:t>
            </a:r>
          </a:p>
          <a:p>
            <a:pPr>
              <a:defRPr sz="1050">
                <a:solidFill>
                  <a:srgbClr val="FFFFFF"/>
                </a:solidFill>
                <a:latin typeface="Arial"/>
              </a:defRPr>
            </a:pPr>
            <a:r>
              <a:t>• Protocol: Persistent server-side WebSocket to wss://stream.aisstream.io/v0/stream</a:t>
            </a:r>
            <a:br/>
            <a:r>
              <a:t>• Spatial Bounding Box: [0.0°N, 60.0°E] to [26.0°N, 96.0°E] (Entire Indian EEZ)</a:t>
            </a:r>
            <a:br/>
            <a:r>
              <a:t>• Telemetry: PositionReport (Cog, Sog, Lat, Lon) &amp; ShipStaticData (Name, CallSign, Draught)</a:t>
            </a:r>
            <a:br/>
            <a:r>
              <a:t>• Strict Data Provenance: Tagged as LIVE_AIS with zero artificial vessel simulations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latin typeface="Arial"/>
              </a:defRPr>
            </a:pPr>
            <a:r>
              <a:t>SMART INDIA HACKATHON 2026 | ISRO PS 176</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FFFFFF"/>
                </a:solidFill>
                <a:latin typeface="Arial"/>
              </a:defRPr>
            </a:pPr>
            <a:r>
              <a:t>Deterministic Safety Sentinel: Mathematical Border Veto</a:t>
            </a:r>
          </a:p>
        </p:txBody>
      </p:sp>
      <p:sp>
        <p:nvSpPr>
          <p:cNvPr id="4" name="Rectangle 3"/>
          <p:cNvSpPr/>
          <p:nvPr/>
        </p:nvSpPr>
        <p:spPr>
          <a:xfrm>
            <a:off x="731520" y="1234440"/>
            <a:ext cx="10698480" cy="2743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5943600" cy="4389120"/>
          </a:xfrm>
          <a:prstGeom prst="roundRect">
            <a:avLst/>
          </a:prstGeom>
          <a:solidFill>
            <a:srgbClr val="15203C"/>
          </a:solidFill>
          <a:ln w="15240">
            <a:solidFill>
              <a:srgbClr val="283C64"/>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1000"/>
              </a:spcAft>
              <a:defRPr sz="1600" b="1">
                <a:solidFill>
                  <a:srgbClr val="0EA5E9"/>
                </a:solidFill>
              </a:defRPr>
            </a:pPr>
            <a:r>
              <a:t>Mathematical Geofencing Algorithm</a:t>
            </a:r>
          </a:p>
          <a:p>
            <a:pPr>
              <a:spcAft>
                <a:spcPts val="800"/>
              </a:spcAft>
              <a:defRPr sz="1100">
                <a:solidFill>
                  <a:srgbClr val="FFFFFF"/>
                </a:solidFill>
              </a:defRPr>
            </a:pPr>
            <a:r>
              <a:t>• UNCLOS Boundary Vectors: Ingests official LineString geometry for Indian International Maritime Boundary Lines (Pakistan, Sri Lanka, Maldives, Bangladesh).</a:t>
            </a:r>
          </a:p>
          <a:p>
            <a:pPr>
              <a:spcAft>
                <a:spcPts val="800"/>
              </a:spcAft>
              <a:defRPr sz="1100">
                <a:solidFill>
                  <a:srgbClr val="FFFFFF"/>
                </a:solidFill>
              </a:defRPr>
            </a:pPr>
            <a:r>
              <a:t>• Spherical Trigonometry: Uses Turf.js `pointToLineDistance` implementing WGS-84 geodesic calculations to compute exact distance in kilometers.</a:t>
            </a:r>
          </a:p>
          <a:p>
            <a:pPr>
              <a:spcAft>
                <a:spcPts val="800"/>
              </a:spcAft>
              <a:defRPr sz="1100">
                <a:solidFill>
                  <a:srgbClr val="FFFFFF"/>
                </a:solidFill>
              </a:defRPr>
            </a:pPr>
            <a:r>
              <a:t>• Point-in-Polygon MPA Checks: Evaluates `booleanPointInPolygon` against Marine Protected Areas (Gulf of Mannar, Sundarbans, Jamnagar Coral Sanctuary).</a:t>
            </a:r>
          </a:p>
          <a:p>
            <a:pPr>
              <a:spcAft>
                <a:spcPts val="800"/>
              </a:spcAft>
              <a:defRPr sz="1100">
                <a:solidFill>
                  <a:srgbClr val="FFFFFF"/>
                </a:solidFill>
              </a:defRPr>
            </a:pPr>
            <a:r>
              <a:t>• Automated Hard Safety Veto: If a vessel or suggested waypoint violates safety thresholds, the commercial engine is immediately vetoed.</a:t>
            </a:r>
          </a:p>
        </p:txBody>
      </p:sp>
      <p:sp>
        <p:nvSpPr>
          <p:cNvPr id="6" name="Rounded Rectangle 5"/>
          <p:cNvSpPr/>
          <p:nvPr/>
        </p:nvSpPr>
        <p:spPr>
          <a:xfrm>
            <a:off x="6949440" y="1645920"/>
            <a:ext cx="4480560" cy="4389120"/>
          </a:xfrm>
          <a:prstGeom prst="roundRect">
            <a:avLst/>
          </a:prstGeom>
          <a:solidFill>
            <a:srgbClr val="101A3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1400"/>
              </a:spcAft>
              <a:defRPr sz="1400" b="1">
                <a:solidFill>
                  <a:srgbClr val="EF4444"/>
                </a:solidFill>
              </a:defRPr>
            </a:pPr>
            <a:r>
              <a:t>3-TIER MARITIME ALERT MATRIX</a:t>
            </a:r>
          </a:p>
          <a:p>
            <a:pPr>
              <a:defRPr sz="1100" b="1">
                <a:solidFill>
                  <a:srgbClr val="EF4444"/>
                </a:solidFill>
              </a:defRPr>
            </a:pPr>
            <a:r>
              <a:t>🔴 DANGER: &lt; 12 km to IMBL</a:t>
            </a:r>
          </a:p>
          <a:p>
            <a:pPr>
              <a:spcAft>
                <a:spcPts val="600"/>
              </a:spcAft>
              <a:defRPr sz="1000">
                <a:solidFill>
                  <a:srgbClr val="FFFFFF"/>
                </a:solidFill>
              </a:defRPr>
            </a:pPr>
            <a:r>
              <a:t>Critical border breach risk. Prohibits navigation, sounds sirens, and triggers mandatory course correction back into Indian territorial waters.</a:t>
            </a:r>
          </a:p>
          <a:p>
            <a:pPr>
              <a:defRPr sz="1100" b="1">
                <a:solidFill>
                  <a:srgbClr val="F59E0B"/>
                </a:solidFill>
              </a:defRPr>
            </a:pPr>
            <a:r>
              <a:t>🟡 CAUTION: 12 - 35 km Buffer</a:t>
            </a:r>
          </a:p>
          <a:p>
            <a:pPr>
              <a:spcAft>
                <a:spcPts val="600"/>
              </a:spcAft>
              <a:defRPr sz="1000">
                <a:solidFill>
                  <a:srgbClr val="FFFFFF"/>
                </a:solidFill>
              </a:defRPr>
            </a:pPr>
            <a:r>
              <a:t>Operational caution zone. Fishermen advised to monitor NavIC / VHF radio channel 16 and avoid drifting due to tidal currents.</a:t>
            </a:r>
          </a:p>
          <a:p>
            <a:pPr>
              <a:defRPr sz="1100" b="1">
                <a:solidFill>
                  <a:srgbClr val="10B981"/>
                </a:solidFill>
              </a:defRPr>
            </a:pPr>
            <a:r>
              <a:t>🟢 SAFE: &gt; 35 km in EEZ</a:t>
            </a:r>
          </a:p>
          <a:p>
            <a:pPr>
              <a:spcAft>
                <a:spcPts val="600"/>
              </a:spcAft>
              <a:defRPr sz="1000">
                <a:solidFill>
                  <a:srgbClr val="FFFFFF"/>
                </a:solidFill>
              </a:defRPr>
            </a:pPr>
            <a:r>
              <a:t>Standard operating zone. Clear for commercial fishing and pelagic trawling outside Marine Protected Areas.</a:t>
            </a:r>
          </a:p>
          <a:p>
            <a:pPr>
              <a:defRPr sz="1100" b="1">
                <a:solidFill>
                  <a:srgbClr val="0EA5E9"/>
                </a:solidFill>
              </a:defRPr>
            </a:pPr>
            <a:r>
              <a:t>🛡️ RESTRICTED MPA VIOLATION</a:t>
            </a:r>
          </a:p>
          <a:p>
            <a:pPr>
              <a:spcAft>
                <a:spcPts val="600"/>
              </a:spcAft>
              <a:defRPr sz="1000">
                <a:solidFill>
                  <a:srgbClr val="FFFFFF"/>
                </a:solidFill>
              </a:defRPr>
            </a:pPr>
            <a:r>
              <a:t>Vessel inside Marine National Park or Coral Reserve. Trawling strictly prohibited; penalty alert issued to Fisheries Dept.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latin typeface="Arial"/>
              </a:defRPr>
            </a:pPr>
            <a:r>
              <a:t>SMART INDIA HACKATHON 2026 | ISRO PS 176</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FFFFFF"/>
                </a:solidFill>
                <a:latin typeface="Arial"/>
              </a:defRPr>
            </a:pPr>
            <a:r>
              <a:t>Socio-Economic Impact: Empowering India's Blue Economy</a:t>
            </a:r>
          </a:p>
        </p:txBody>
      </p:sp>
      <p:sp>
        <p:nvSpPr>
          <p:cNvPr id="4" name="Rectangle 3"/>
          <p:cNvSpPr/>
          <p:nvPr/>
        </p:nvSpPr>
        <p:spPr>
          <a:xfrm>
            <a:off x="731520" y="1234440"/>
            <a:ext cx="10698480" cy="2743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5257800" cy="2057400"/>
          </a:xfrm>
          <a:prstGeom prst="roundRect">
            <a:avLst/>
          </a:prstGeom>
          <a:solidFill>
            <a:srgbClr val="15203C"/>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ctr"/>
          <a:lstStyle/>
          <a:p>
            <a:pPr algn="ctr">
              <a:spcAft>
                <a:spcPts val="800"/>
              </a:spcAft>
              <a:defRPr sz="1500" b="1">
                <a:solidFill>
                  <a:srgbClr val="0EA5E9"/>
                </a:solidFill>
              </a:defRPr>
            </a:pPr>
            <a:r>
              <a:t>30-35% Fuel Savings</a:t>
            </a:r>
          </a:p>
          <a:p>
            <a:pPr>
              <a:defRPr sz="1100">
                <a:solidFill>
                  <a:srgbClr val="FFFFFF"/>
                </a:solidFill>
              </a:defRPr>
            </a:pPr>
            <a:r>
              <a:t>By pinpointing satellite-derived thermal fronts and ocean chlorophyll plumes, artisanal fishers navigate directly to productive fishing grounds instead of searching blindly, saving up to ₹2,500 per voyage in diesel.</a:t>
            </a:r>
          </a:p>
        </p:txBody>
      </p:sp>
      <p:sp>
        <p:nvSpPr>
          <p:cNvPr id="6" name="Rounded Rectangle 5"/>
          <p:cNvSpPr/>
          <p:nvPr/>
        </p:nvSpPr>
        <p:spPr>
          <a:xfrm>
            <a:off x="6172200" y="1645920"/>
            <a:ext cx="5257800" cy="2057400"/>
          </a:xfrm>
          <a:prstGeom prst="roundRect">
            <a:avLst/>
          </a:prstGeom>
          <a:solidFill>
            <a:srgbClr val="15203C"/>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ctr"/>
          <a:lstStyle/>
          <a:p>
            <a:pPr algn="ctr">
              <a:spcAft>
                <a:spcPts val="800"/>
              </a:spcAft>
              <a:defRPr sz="1500" b="1">
                <a:solidFill>
                  <a:srgbClr val="EF4444"/>
                </a:solidFill>
              </a:defRPr>
            </a:pPr>
            <a:r>
              <a:t>Zero Border Apprehensions</a:t>
            </a:r>
          </a:p>
          <a:p>
            <a:pPr>
              <a:defRPr sz="1100">
                <a:solidFill>
                  <a:srgbClr val="FFFFFF"/>
                </a:solidFill>
              </a:defRPr>
            </a:pPr>
            <a:r>
              <a:t>Automated 12 km and 35 km geofence alerts prevent accidental border crossings in Palk Bay and Sir Creek, directly saving Indian fishermen from foreign detention and confiscation of high-value motorized crafts.</a:t>
            </a:r>
          </a:p>
        </p:txBody>
      </p:sp>
      <p:sp>
        <p:nvSpPr>
          <p:cNvPr id="7" name="Rounded Rectangle 6"/>
          <p:cNvSpPr/>
          <p:nvPr/>
        </p:nvSpPr>
        <p:spPr>
          <a:xfrm>
            <a:off x="731520" y="3931920"/>
            <a:ext cx="5257800" cy="2057400"/>
          </a:xfrm>
          <a:prstGeom prst="roundRect">
            <a:avLst/>
          </a:prstGeom>
          <a:solidFill>
            <a:srgbClr val="15203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ctr"/>
          <a:lstStyle/>
          <a:p>
            <a:pPr algn="ctr">
              <a:spcAft>
                <a:spcPts val="800"/>
              </a:spcAft>
              <a:defRPr sz="1500" b="1">
                <a:solidFill>
                  <a:srgbClr val="10B981"/>
                </a:solidFill>
              </a:defRPr>
            </a:pPr>
            <a:r>
              <a:t>Marine Ecology Conservation</a:t>
            </a:r>
          </a:p>
          <a:p>
            <a:pPr>
              <a:defRPr sz="1100">
                <a:solidFill>
                  <a:srgbClr val="FFFFFF"/>
                </a:solidFill>
              </a:defRPr>
            </a:pPr>
            <a:r>
              <a:t>Active geofencing of Gulf of Mannar Biosphere Reserve and Jamnagar Marine Sanctuary stops unauthorized bottom trawling, preserving endangered coral reefs and Dugong habitats.</a:t>
            </a:r>
          </a:p>
        </p:txBody>
      </p:sp>
      <p:sp>
        <p:nvSpPr>
          <p:cNvPr id="8" name="Rounded Rectangle 7"/>
          <p:cNvSpPr/>
          <p:nvPr/>
        </p:nvSpPr>
        <p:spPr>
          <a:xfrm>
            <a:off x="6172200" y="3931920"/>
            <a:ext cx="5257800" cy="2057400"/>
          </a:xfrm>
          <a:prstGeom prst="roundRect">
            <a:avLst/>
          </a:prstGeom>
          <a:solidFill>
            <a:srgbClr val="15203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ctr"/>
          <a:lstStyle/>
          <a:p>
            <a:pPr algn="ctr">
              <a:spcAft>
                <a:spcPts val="800"/>
              </a:spcAft>
              <a:defRPr sz="1500" b="1">
                <a:solidFill>
                  <a:srgbClr val="F59E0B"/>
                </a:solidFill>
              </a:defRPr>
            </a:pPr>
            <a:r>
              <a:t>Grassroots Vernacular Voice</a:t>
            </a:r>
          </a:p>
          <a:p>
            <a:pPr>
              <a:defRPr sz="1100">
                <a:solidFill>
                  <a:srgbClr val="FFFFFF"/>
                </a:solidFill>
              </a:defRPr>
            </a:pPr>
            <a:r>
              <a:t>Web Speech API and localized TTS reasoning deliver audio guidance in Hindi, Gujarati, and Tamil, making space intelligence accessible to illiterate or semi-literate boat operators at sea.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latin typeface="Arial"/>
              </a:defRPr>
            </a:pPr>
            <a:r>
              <a:t>SMART INDIA HACKATHON 2026 | ISRO PS 176</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FFFFFF"/>
                </a:solidFill>
                <a:latin typeface="Arial"/>
              </a:defRPr>
            </a:pPr>
            <a:r>
              <a:t>Empirical Benchmarks: Proven Reliability &amp; Sub-1.5s Latency</a:t>
            </a:r>
          </a:p>
        </p:txBody>
      </p:sp>
      <p:sp>
        <p:nvSpPr>
          <p:cNvPr id="4" name="Rectangle 3"/>
          <p:cNvSpPr/>
          <p:nvPr/>
        </p:nvSpPr>
        <p:spPr>
          <a:xfrm>
            <a:off x="731520" y="1234440"/>
            <a:ext cx="10698480" cy="2743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645920"/>
          <a:ext cx="10698480" cy="29260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487680">
                <a:tc>
                  <a:txBody>
                    <a:bodyPr/>
                    <a:lstStyle/>
                    <a:p>
                      <a:pPr>
                        <a:defRPr sz="1050" b="1">
                          <a:solidFill>
                            <a:srgbClr val="0EA5E9"/>
                          </a:solidFill>
                          <a:latin typeface="Arial"/>
                        </a:defRPr>
                      </a:pPr>
                      <a:r>
                        <a:t>AI Model Evaluated</a:t>
                      </a:r>
                    </a:p>
                  </a:txBody>
                  <a:tcPr anchor="ctr">
                    <a:solidFill>
                      <a:srgbClr val="283C64"/>
                    </a:solidFill>
                  </a:tcPr>
                </a:tc>
                <a:tc>
                  <a:txBody>
                    <a:bodyPr/>
                    <a:lstStyle/>
                    <a:p>
                      <a:pPr>
                        <a:defRPr sz="1050" b="1">
                          <a:solidFill>
                            <a:srgbClr val="0EA5E9"/>
                          </a:solidFill>
                          <a:latin typeface="Arial"/>
                        </a:defRPr>
                      </a:pPr>
                      <a:r>
                        <a:t>Response Latency</a:t>
                      </a:r>
                    </a:p>
                  </a:txBody>
                  <a:tcPr anchor="ctr">
                    <a:solidFill>
                      <a:srgbClr val="283C64"/>
                    </a:solidFill>
                  </a:tcPr>
                </a:tc>
                <a:tc>
                  <a:txBody>
                    <a:bodyPr/>
                    <a:lstStyle/>
                    <a:p>
                      <a:pPr>
                        <a:defRPr sz="1050" b="1">
                          <a:solidFill>
                            <a:srgbClr val="0EA5E9"/>
                          </a:solidFill>
                          <a:latin typeface="Arial"/>
                        </a:defRPr>
                      </a:pPr>
                      <a:r>
                        <a:t>HTTP Status / Reliability</a:t>
                      </a:r>
                    </a:p>
                  </a:txBody>
                  <a:tcPr anchor="ctr">
                    <a:solidFill>
                      <a:srgbClr val="283C64"/>
                    </a:solidFill>
                  </a:tcPr>
                </a:tc>
                <a:tc>
                  <a:txBody>
                    <a:bodyPr/>
                    <a:lstStyle/>
                    <a:p>
                      <a:pPr>
                        <a:defRPr sz="1050" b="1">
                          <a:solidFill>
                            <a:srgbClr val="0EA5E9"/>
                          </a:solidFill>
                          <a:latin typeface="Arial"/>
                        </a:defRPr>
                      </a:pPr>
                      <a:r>
                        <a:t>Production Verdict for Aurexo</a:t>
                      </a:r>
                    </a:p>
                  </a:txBody>
                  <a:tcPr anchor="ctr">
                    <a:solidFill>
                      <a:srgbClr val="283C64"/>
                    </a:solidFill>
                  </a:tcPr>
                </a:tc>
                <a:extLst>
                  <a:ext uri="{0D108BD9-81ED-4DB2-BD59-A6C34878D82A}">
                    <a16:rowId xmlns:a16="http://schemas.microsoft.com/office/drawing/2014/main" val="10000"/>
                  </a:ext>
                </a:extLst>
              </a:tr>
              <a:tr h="487680">
                <a:tc>
                  <a:txBody>
                    <a:bodyPr/>
                    <a:lstStyle/>
                    <a:p>
                      <a:pPr>
                        <a:defRPr sz="950" b="1">
                          <a:solidFill>
                            <a:srgbClr val="FFFFFF"/>
                          </a:solidFill>
                          <a:latin typeface="Arial"/>
                        </a:defRPr>
                      </a:pPr>
                      <a:r>
                        <a:t>Google Gemini 3.5 Flash-Lite</a:t>
                      </a:r>
                    </a:p>
                  </a:txBody>
                  <a:tcPr anchor="ctr">
                    <a:solidFill>
                      <a:srgbClr val="10282D"/>
                    </a:solidFill>
                  </a:tcPr>
                </a:tc>
                <a:tc>
                  <a:txBody>
                    <a:bodyPr/>
                    <a:lstStyle/>
                    <a:p>
                      <a:pPr>
                        <a:defRPr sz="950">
                          <a:solidFill>
                            <a:srgbClr val="FFFFFF"/>
                          </a:solidFill>
                          <a:latin typeface="Arial"/>
                        </a:defRPr>
                      </a:pPr>
                      <a:r>
                        <a:t>1,290 ms - 1,556 ms</a:t>
                      </a:r>
                    </a:p>
                  </a:txBody>
                  <a:tcPr anchor="ctr">
                    <a:solidFill>
                      <a:srgbClr val="10282D"/>
                    </a:solidFill>
                  </a:tcPr>
                </a:tc>
                <a:tc>
                  <a:txBody>
                    <a:bodyPr/>
                    <a:lstStyle/>
                    <a:p>
                      <a:pPr>
                        <a:defRPr sz="950">
                          <a:solidFill>
                            <a:srgbClr val="FFFFFF"/>
                          </a:solidFill>
                          <a:latin typeface="Arial"/>
                        </a:defRPr>
                      </a:pPr>
                      <a:r>
                        <a:t>HTTP 200 OK (100% Success)</a:t>
                      </a:r>
                    </a:p>
                  </a:txBody>
                  <a:tcPr anchor="ctr">
                    <a:solidFill>
                      <a:srgbClr val="10282D"/>
                    </a:solidFill>
                  </a:tcPr>
                </a:tc>
                <a:tc>
                  <a:txBody>
                    <a:bodyPr/>
                    <a:lstStyle/>
                    <a:p>
                      <a:pPr>
                        <a:defRPr sz="950">
                          <a:solidFill>
                            <a:srgbClr val="FFFFFF"/>
                          </a:solidFill>
                          <a:latin typeface="Arial"/>
                        </a:defRPr>
                      </a:pPr>
                      <a:r>
                        <a:t>SELECTED: Primary cloud intelligence with deep marine reasoning</a:t>
                      </a:r>
                    </a:p>
                  </a:txBody>
                  <a:tcPr anchor="ctr">
                    <a:solidFill>
                      <a:srgbClr val="10282D"/>
                    </a:solidFill>
                  </a:tcPr>
                </a:tc>
                <a:extLst>
                  <a:ext uri="{0D108BD9-81ED-4DB2-BD59-A6C34878D82A}">
                    <a16:rowId xmlns:a16="http://schemas.microsoft.com/office/drawing/2014/main" val="10001"/>
                  </a:ext>
                </a:extLst>
              </a:tr>
              <a:tr h="487680">
                <a:tc>
                  <a:txBody>
                    <a:bodyPr/>
                    <a:lstStyle/>
                    <a:p>
                      <a:pPr>
                        <a:defRPr sz="950" b="1">
                          <a:solidFill>
                            <a:srgbClr val="FFFFFF"/>
                          </a:solidFill>
                          <a:latin typeface="Arial"/>
                        </a:defRPr>
                      </a:pPr>
                      <a:r>
                        <a:t>Local Ollama (llama3.2:3b)</a:t>
                      </a:r>
                    </a:p>
                  </a:txBody>
                  <a:tcPr anchor="ctr">
                    <a:solidFill>
                      <a:srgbClr val="10282D"/>
                    </a:solidFill>
                  </a:tcPr>
                </a:tc>
                <a:tc>
                  <a:txBody>
                    <a:bodyPr/>
                    <a:lstStyle/>
                    <a:p>
                      <a:pPr>
                        <a:defRPr sz="950">
                          <a:solidFill>
                            <a:srgbClr val="FFFFFF"/>
                          </a:solidFill>
                          <a:latin typeface="Arial"/>
                        </a:defRPr>
                      </a:pPr>
                      <a:r>
                        <a:t>2,400 ms - 3,800 ms</a:t>
                      </a:r>
                    </a:p>
                  </a:txBody>
                  <a:tcPr anchor="ctr">
                    <a:solidFill>
                      <a:srgbClr val="10282D"/>
                    </a:solidFill>
                  </a:tcPr>
                </a:tc>
                <a:tc>
                  <a:txBody>
                    <a:bodyPr/>
                    <a:lstStyle/>
                    <a:p>
                      <a:pPr>
                        <a:defRPr sz="950">
                          <a:solidFill>
                            <a:srgbClr val="FFFFFF"/>
                          </a:solidFill>
                          <a:latin typeface="Arial"/>
                        </a:defRPr>
                      </a:pPr>
                      <a:r>
                        <a:t>HTTP 200 OK (Localhost)</a:t>
                      </a:r>
                    </a:p>
                  </a:txBody>
                  <a:tcPr anchor="ctr">
                    <a:solidFill>
                      <a:srgbClr val="10282D"/>
                    </a:solidFill>
                  </a:tcPr>
                </a:tc>
                <a:tc>
                  <a:txBody>
                    <a:bodyPr/>
                    <a:lstStyle/>
                    <a:p>
                      <a:pPr>
                        <a:defRPr sz="950">
                          <a:solidFill>
                            <a:srgbClr val="FFFFFF"/>
                          </a:solidFill>
                          <a:latin typeface="Arial"/>
                        </a:defRPr>
                      </a:pPr>
                      <a:r>
                        <a:t>SELECTED: Edge offline failover for disconnected vessels at sea</a:t>
                      </a:r>
                    </a:p>
                  </a:txBody>
                  <a:tcPr anchor="ctr">
                    <a:solidFill>
                      <a:srgbClr val="10282D"/>
                    </a:solidFill>
                  </a:tcPr>
                </a:tc>
                <a:extLst>
                  <a:ext uri="{0D108BD9-81ED-4DB2-BD59-A6C34878D82A}">
                    <a16:rowId xmlns:a16="http://schemas.microsoft.com/office/drawing/2014/main" val="10002"/>
                  </a:ext>
                </a:extLst>
              </a:tr>
              <a:tr h="487680">
                <a:tc>
                  <a:txBody>
                    <a:bodyPr/>
                    <a:lstStyle/>
                    <a:p>
                      <a:pPr>
                        <a:defRPr sz="950" b="1">
                          <a:solidFill>
                            <a:srgbClr val="FFFFFF"/>
                          </a:solidFill>
                          <a:latin typeface="Arial"/>
                        </a:defRPr>
                      </a:pPr>
                      <a:r>
                        <a:t>Google Gemini 3.8 Flash</a:t>
                      </a:r>
                    </a:p>
                  </a:txBody>
                  <a:tcPr anchor="ctr">
                    <a:solidFill>
                      <a:srgbClr val="15203C"/>
                    </a:solidFill>
                  </a:tcPr>
                </a:tc>
                <a:tc>
                  <a:txBody>
                    <a:bodyPr/>
                    <a:lstStyle/>
                    <a:p>
                      <a:pPr>
                        <a:defRPr sz="950">
                          <a:solidFill>
                            <a:srgbClr val="FFFFFF"/>
                          </a:solidFill>
                          <a:latin typeface="Arial"/>
                        </a:defRPr>
                      </a:pPr>
                      <a:r>
                        <a:t>Timed out / Failed</a:t>
                      </a:r>
                    </a:p>
                  </a:txBody>
                  <a:tcPr anchor="ctr">
                    <a:solidFill>
                      <a:srgbClr val="15203C"/>
                    </a:solidFill>
                  </a:tcPr>
                </a:tc>
                <a:tc>
                  <a:txBody>
                    <a:bodyPr/>
                    <a:lstStyle/>
                    <a:p>
                      <a:pPr>
                        <a:defRPr sz="950">
                          <a:solidFill>
                            <a:srgbClr val="FFFFFF"/>
                          </a:solidFill>
                          <a:latin typeface="Arial"/>
                        </a:defRPr>
                      </a:pPr>
                      <a:r>
                        <a:t>HTTP 503 (Model Demand Spikes)</a:t>
                      </a:r>
                    </a:p>
                  </a:txBody>
                  <a:tcPr anchor="ctr">
                    <a:solidFill>
                      <a:srgbClr val="15203C"/>
                    </a:solidFill>
                  </a:tcPr>
                </a:tc>
                <a:tc>
                  <a:txBody>
                    <a:bodyPr/>
                    <a:lstStyle/>
                    <a:p>
                      <a:pPr>
                        <a:defRPr sz="950">
                          <a:solidFill>
                            <a:srgbClr val="FFFFFF"/>
                          </a:solidFill>
                          <a:latin typeface="Arial"/>
                        </a:defRPr>
                      </a:pPr>
                      <a:r>
                        <a:t>REJECTED: Triggered ungraceful fallback cascades during load</a:t>
                      </a:r>
                    </a:p>
                  </a:txBody>
                  <a:tcPr anchor="ctr">
                    <a:solidFill>
                      <a:srgbClr val="15203C"/>
                    </a:solidFill>
                  </a:tcPr>
                </a:tc>
                <a:extLst>
                  <a:ext uri="{0D108BD9-81ED-4DB2-BD59-A6C34878D82A}">
                    <a16:rowId xmlns:a16="http://schemas.microsoft.com/office/drawing/2014/main" val="10003"/>
                  </a:ext>
                </a:extLst>
              </a:tr>
              <a:tr h="487680">
                <a:tc>
                  <a:txBody>
                    <a:bodyPr/>
                    <a:lstStyle/>
                    <a:p>
                      <a:pPr>
                        <a:defRPr sz="950" b="1">
                          <a:solidFill>
                            <a:srgbClr val="FFFFFF"/>
                          </a:solidFill>
                          <a:latin typeface="Arial"/>
                        </a:defRPr>
                      </a:pPr>
                      <a:r>
                        <a:t>Google Gemini 3.5 Flash</a:t>
                      </a:r>
                    </a:p>
                  </a:txBody>
                  <a:tcPr anchor="ctr">
                    <a:solidFill>
                      <a:srgbClr val="15203C"/>
                    </a:solidFill>
                  </a:tcPr>
                </a:tc>
                <a:tc>
                  <a:txBody>
                    <a:bodyPr/>
                    <a:lstStyle/>
                    <a:p>
                      <a:pPr>
                        <a:defRPr sz="950">
                          <a:solidFill>
                            <a:srgbClr val="FFFFFF"/>
                          </a:solidFill>
                          <a:latin typeface="Arial"/>
                        </a:defRPr>
                      </a:pPr>
                      <a:r>
                        <a:t>57,000 ms spike</a:t>
                      </a:r>
                    </a:p>
                  </a:txBody>
                  <a:tcPr anchor="ctr">
                    <a:solidFill>
                      <a:srgbClr val="15203C"/>
                    </a:solidFill>
                  </a:tcPr>
                </a:tc>
                <a:tc>
                  <a:txBody>
                    <a:bodyPr/>
                    <a:lstStyle/>
                    <a:p>
                      <a:pPr>
                        <a:defRPr sz="950">
                          <a:solidFill>
                            <a:srgbClr val="FFFFFF"/>
                          </a:solidFill>
                          <a:latin typeface="Arial"/>
                        </a:defRPr>
                      </a:pPr>
                      <a:r>
                        <a:t>High tail latency spike</a:t>
                      </a:r>
                    </a:p>
                  </a:txBody>
                  <a:tcPr anchor="ctr">
                    <a:solidFill>
                      <a:srgbClr val="15203C"/>
                    </a:solidFill>
                  </a:tcPr>
                </a:tc>
                <a:tc>
                  <a:txBody>
                    <a:bodyPr/>
                    <a:lstStyle/>
                    <a:p>
                      <a:pPr>
                        <a:defRPr sz="950">
                          <a:solidFill>
                            <a:srgbClr val="FFFFFF"/>
                          </a:solidFill>
                          <a:latin typeface="Arial"/>
                        </a:defRPr>
                      </a:pPr>
                      <a:r>
                        <a:t>REJECTED: Unacceptable delay for real-time maritime decision support</a:t>
                      </a:r>
                    </a:p>
                  </a:txBody>
                  <a:tcPr anchor="ctr">
                    <a:solidFill>
                      <a:srgbClr val="15203C"/>
                    </a:solidFill>
                  </a:tcPr>
                </a:tc>
                <a:extLst>
                  <a:ext uri="{0D108BD9-81ED-4DB2-BD59-A6C34878D82A}">
                    <a16:rowId xmlns:a16="http://schemas.microsoft.com/office/drawing/2014/main" val="10004"/>
                  </a:ext>
                </a:extLst>
              </a:tr>
              <a:tr h="487680">
                <a:tc>
                  <a:txBody>
                    <a:bodyPr/>
                    <a:lstStyle/>
                    <a:p>
                      <a:pPr>
                        <a:defRPr sz="950" b="1">
                          <a:solidFill>
                            <a:srgbClr val="FFFFFF"/>
                          </a:solidFill>
                          <a:latin typeface="Arial"/>
                        </a:defRPr>
                      </a:pPr>
                      <a:r>
                        <a:t>Google Gemini 2.0 / 1.5 Flash</a:t>
                      </a:r>
                    </a:p>
                  </a:txBody>
                  <a:tcPr anchor="ctr">
                    <a:solidFill>
                      <a:srgbClr val="15203C"/>
                    </a:solidFill>
                  </a:tcPr>
                </a:tc>
                <a:tc>
                  <a:txBody>
                    <a:bodyPr/>
                    <a:lstStyle/>
                    <a:p>
                      <a:pPr>
                        <a:defRPr sz="950">
                          <a:solidFill>
                            <a:srgbClr val="FFFFFF"/>
                          </a:solidFill>
                          <a:latin typeface="Arial"/>
                        </a:defRPr>
                      </a:pPr>
                      <a:r>
                        <a:t>Immediate failure</a:t>
                      </a:r>
                    </a:p>
                  </a:txBody>
                  <a:tcPr anchor="ctr">
                    <a:solidFill>
                      <a:srgbClr val="15203C"/>
                    </a:solidFill>
                  </a:tcPr>
                </a:tc>
                <a:tc>
                  <a:txBody>
                    <a:bodyPr/>
                    <a:lstStyle/>
                    <a:p>
                      <a:pPr>
                        <a:defRPr sz="950">
                          <a:solidFill>
                            <a:srgbClr val="FFFFFF"/>
                          </a:solidFill>
                          <a:latin typeface="Arial"/>
                        </a:defRPr>
                      </a:pPr>
                      <a:r>
                        <a:t>HTTP 404 (Retired by Google)</a:t>
                      </a:r>
                    </a:p>
                  </a:txBody>
                  <a:tcPr anchor="ctr">
                    <a:solidFill>
                      <a:srgbClr val="15203C"/>
                    </a:solidFill>
                  </a:tcPr>
                </a:tc>
                <a:tc>
                  <a:txBody>
                    <a:bodyPr/>
                    <a:lstStyle/>
                    <a:p>
                      <a:pPr>
                        <a:defRPr sz="950">
                          <a:solidFill>
                            <a:srgbClr val="FFFFFF"/>
                          </a:solidFill>
                          <a:latin typeface="Arial"/>
                        </a:defRPr>
                      </a:pPr>
                      <a:r>
                        <a:t>REJECTED: Deprecated legacy endpoints</a:t>
                      </a:r>
                    </a:p>
                  </a:txBody>
                  <a:tcPr anchor="ctr">
                    <a:solidFill>
                      <a:srgbClr val="15203C"/>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731520" y="4754880"/>
            <a:ext cx="3429000" cy="1463040"/>
          </a:xfrm>
          <a:prstGeom prst="roundRect">
            <a:avLst/>
          </a:prstGeom>
          <a:solidFill>
            <a:srgbClr val="15203C"/>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spcAft>
                <a:spcPts val="400"/>
              </a:spcAft>
              <a:defRPr sz="1200" b="1">
                <a:solidFill>
                  <a:srgbClr val="0EA5E9"/>
                </a:solidFill>
              </a:defRPr>
            </a:pPr>
            <a:r>
              <a:t>3.5s Static Compile</a:t>
            </a:r>
          </a:p>
          <a:p>
            <a:pPr>
              <a:defRPr sz="1000">
                <a:solidFill>
                  <a:srgbClr val="FFFFFF"/>
                </a:solidFill>
              </a:defRPr>
            </a:pPr>
            <a:r>
              <a:t>15/15 Next.js App Router routes compiled cleanly with zero errors.</a:t>
            </a:r>
          </a:p>
        </p:txBody>
      </p:sp>
      <p:sp>
        <p:nvSpPr>
          <p:cNvPr id="7" name="Rounded Rectangle 6"/>
          <p:cNvSpPr/>
          <p:nvPr/>
        </p:nvSpPr>
        <p:spPr>
          <a:xfrm>
            <a:off x="4343400" y="4754880"/>
            <a:ext cx="3429000" cy="1463040"/>
          </a:xfrm>
          <a:prstGeom prst="roundRect">
            <a:avLst/>
          </a:prstGeom>
          <a:solidFill>
            <a:srgbClr val="15203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spcAft>
                <a:spcPts val="400"/>
              </a:spcAft>
              <a:defRPr sz="1200" b="1">
                <a:solidFill>
                  <a:srgbClr val="10B981"/>
                </a:solidFill>
              </a:defRPr>
            </a:pPr>
            <a:r>
              <a:t>5-Minute Quantized Cache</a:t>
            </a:r>
          </a:p>
          <a:p>
            <a:pPr>
              <a:defRPr sz="1000">
                <a:solidFill>
                  <a:srgbClr val="FFFFFF"/>
                </a:solidFill>
              </a:defRPr>
            </a:pPr>
            <a:r>
              <a:t>Coordinates quantized to ~1.1km grid to eliminate external API rate limits.</a:t>
            </a:r>
          </a:p>
        </p:txBody>
      </p:sp>
      <p:sp>
        <p:nvSpPr>
          <p:cNvPr id="8" name="Rounded Rectangle 7"/>
          <p:cNvSpPr/>
          <p:nvPr/>
        </p:nvSpPr>
        <p:spPr>
          <a:xfrm>
            <a:off x="7955280" y="4754880"/>
            <a:ext cx="3429000" cy="1463040"/>
          </a:xfrm>
          <a:prstGeom prst="roundRect">
            <a:avLst/>
          </a:prstGeom>
          <a:solidFill>
            <a:srgbClr val="15203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spcAft>
                <a:spcPts val="400"/>
              </a:spcAft>
              <a:defRPr sz="1200" b="1">
                <a:solidFill>
                  <a:srgbClr val="F59E0B"/>
                </a:solidFill>
              </a:defRPr>
            </a:pPr>
            <a:r>
              <a:t>Sub-200ms Cached API</a:t>
            </a:r>
          </a:p>
          <a:p>
            <a:pPr>
              <a:defRPr sz="1000">
                <a:solidFill>
                  <a:srgbClr val="FFFFFF"/>
                </a:solidFill>
              </a:defRPr>
            </a:pPr>
            <a:r>
              <a:t>In-memory MarineService delivers sub-second cached telemetry to UI.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latin typeface="Arial"/>
              </a:defRPr>
            </a:pPr>
            <a:r>
              <a:t>SMART INDIA HACKATHON 2026 | ISRO PS 176</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FFFFFF"/>
                </a:solidFill>
                <a:latin typeface="Arial"/>
              </a:defRPr>
            </a:pPr>
            <a:r>
              <a:t>Feasibility, Deployment Strategy &amp; Scalability Roadmap</a:t>
            </a:r>
          </a:p>
        </p:txBody>
      </p:sp>
      <p:sp>
        <p:nvSpPr>
          <p:cNvPr id="4" name="Rectangle 3"/>
          <p:cNvSpPr/>
          <p:nvPr/>
        </p:nvSpPr>
        <p:spPr>
          <a:xfrm>
            <a:off x="731520" y="1234440"/>
            <a:ext cx="10698480" cy="2743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3429000" cy="4389120"/>
          </a:xfrm>
          <a:prstGeom prst="roundRect">
            <a:avLst/>
          </a:prstGeom>
          <a:solidFill>
            <a:srgbClr val="15203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1200"/>
              </a:spcAft>
              <a:defRPr sz="1300" b="1">
                <a:solidFill>
                  <a:srgbClr val="10B981"/>
                </a:solidFill>
                <a:latin typeface="Arial"/>
              </a:defRPr>
            </a:pPr>
            <a:r>
              <a:t>Phase 1: Hackathon MVP (COMPLETED)</a:t>
            </a:r>
          </a:p>
          <a:p>
            <a:pPr>
              <a:defRPr sz="1100">
                <a:solidFill>
                  <a:srgbClr val="FFFFFF"/>
                </a:solidFill>
                <a:latin typeface="Arial"/>
              </a:defRPr>
            </a:pPr>
            <a:r>
              <a:t>• Full-stack Next.js 15 Monolith</a:t>
            </a:r>
            <a:br/>
            <a:r>
              <a:t>• Live AISStream WebSocket Ingestion</a:t>
            </a:r>
            <a:br/>
            <a:r>
              <a:t>• NASA GIBS &amp; INCOIS WMS Tiles</a:t>
            </a:r>
            <a:br/>
            <a:r>
              <a:t>• Open-Meteo Reanalysis Data Pipelines</a:t>
            </a:r>
            <a:br/>
            <a:r>
              <a:t>• Turf.js WGS-84 Geodesic IMBL geofencing</a:t>
            </a:r>
            <a:br/>
            <a:r>
              <a:t>• Gemini 3.5 Flash-Lite Multi-Agent Swarm</a:t>
            </a:r>
          </a:p>
        </p:txBody>
      </p:sp>
      <p:sp>
        <p:nvSpPr>
          <p:cNvPr id="6" name="Rounded Rectangle 5"/>
          <p:cNvSpPr/>
          <p:nvPr/>
        </p:nvSpPr>
        <p:spPr>
          <a:xfrm>
            <a:off x="4343400" y="1645920"/>
            <a:ext cx="3429000" cy="4389120"/>
          </a:xfrm>
          <a:prstGeom prst="roundRect">
            <a:avLst/>
          </a:prstGeom>
          <a:solidFill>
            <a:srgbClr val="15203C"/>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1200"/>
              </a:spcAft>
              <a:defRPr sz="1300" b="1">
                <a:solidFill>
                  <a:srgbClr val="0EA5E9"/>
                </a:solidFill>
                <a:latin typeface="Arial"/>
              </a:defRPr>
            </a:pPr>
            <a:r>
              <a:t>Phase 2: ISRO Asset Integration (M1-M3)</a:t>
            </a:r>
          </a:p>
          <a:p>
            <a:pPr>
              <a:defRPr sz="1100">
                <a:solidFill>
                  <a:srgbClr val="FFFFFF"/>
                </a:solidFill>
                <a:latin typeface="Arial"/>
              </a:defRPr>
            </a:pPr>
            <a:r>
              <a:t>• Ingest Oceansat-3 (EOS-06) OCM-3 color data</a:t>
            </a:r>
            <a:br/>
            <a:r>
              <a:t>• SCATSAT-1 scatterometer ocean surface wind</a:t>
            </a:r>
            <a:br/>
            <a:r>
              <a:t>• Direct ISRO MOSDAC OPeNDAP &amp; FTP feeds</a:t>
            </a:r>
            <a:br/>
            <a:r>
              <a:t>• NavIC / IRNSS receiver integration</a:t>
            </a:r>
            <a:br/>
            <a:r>
              <a:t>• Pilot testing with Gujarat &amp; Tamil Nadu fishers</a:t>
            </a:r>
            <a:br/>
            <a:r>
              <a:t>• Dedicated edge Docker package for coastal hubs</a:t>
            </a:r>
          </a:p>
        </p:txBody>
      </p:sp>
      <p:sp>
        <p:nvSpPr>
          <p:cNvPr id="7" name="Rounded Rectangle 6"/>
          <p:cNvSpPr/>
          <p:nvPr/>
        </p:nvSpPr>
        <p:spPr>
          <a:xfrm>
            <a:off x="7955280" y="1645920"/>
            <a:ext cx="3429000" cy="4389120"/>
          </a:xfrm>
          <a:prstGeom prst="roundRect">
            <a:avLst/>
          </a:prstGeom>
          <a:solidFill>
            <a:srgbClr val="15203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1200"/>
              </a:spcAft>
              <a:defRPr sz="1300" b="1">
                <a:solidFill>
                  <a:srgbClr val="F59E0B"/>
                </a:solidFill>
                <a:latin typeface="Arial"/>
              </a:defRPr>
            </a:pPr>
            <a:r>
              <a:t>Phase 3: National Scale-Out (M4-M6)</a:t>
            </a:r>
          </a:p>
          <a:p>
            <a:pPr>
              <a:defRPr sz="1100">
                <a:solidFill>
                  <a:srgbClr val="FFFFFF"/>
                </a:solidFill>
                <a:latin typeface="Arial"/>
              </a:defRPr>
            </a:pPr>
            <a:r>
              <a:t>• State Fisheries &amp; Coast Guard dashboard integration</a:t>
            </a:r>
            <a:br/>
            <a:r>
              <a:t>• Low-bandwidth PWA offline manifest sync</a:t>
            </a:r>
            <a:br/>
            <a:r>
              <a:t>• Automated SMS/VHF coastal broadcast alerts</a:t>
            </a:r>
            <a:br/>
            <a:r>
              <a:t>• Multi-lingual voice copilot expansion (Malayalam, Odia, Bengali, Telugu)</a:t>
            </a:r>
            <a:br/>
            <a:r>
              <a:t>• Cloud cost: &lt;$50/month serverless architecture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latin typeface="Arial"/>
              </a:defRPr>
            </a:pPr>
            <a:r>
              <a:t>SMART INDIA HACKATHON 2026 | ISRO PS 176</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FFFFFF"/>
                </a:solidFill>
                <a:latin typeface="Arial"/>
              </a:defRPr>
            </a:pPr>
            <a:r>
              <a:t>Technical Defense: Anticipated Judge Q&amp;A &amp; Trap Questions</a:t>
            </a:r>
          </a:p>
        </p:txBody>
      </p:sp>
      <p:sp>
        <p:nvSpPr>
          <p:cNvPr id="4" name="Rectangle 3"/>
          <p:cNvSpPr/>
          <p:nvPr/>
        </p:nvSpPr>
        <p:spPr>
          <a:xfrm>
            <a:off x="731520" y="1234440"/>
            <a:ext cx="10698480" cy="2743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5257800" cy="2057400"/>
          </a:xfrm>
          <a:prstGeom prst="roundRect">
            <a:avLst/>
          </a:prstGeom>
          <a:solidFill>
            <a:srgbClr val="15203C"/>
          </a:solidFill>
          <a:ln w="15240">
            <a:solidFill>
              <a:srgbClr val="283C64"/>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ctr"/>
          <a:lstStyle/>
          <a:p>
            <a:pPr algn="ctr">
              <a:spcAft>
                <a:spcPts val="600"/>
              </a:spcAft>
              <a:defRPr sz="1200" b="1">
                <a:solidFill>
                  <a:srgbClr val="0EA5E9"/>
                </a:solidFill>
              </a:defRPr>
            </a:pPr>
            <a:r>
              <a:t>Q1: Why Next.js monolith instead of Python (FastAPI/LangGraph)?</a:t>
            </a:r>
          </a:p>
          <a:p>
            <a:pPr>
              <a:defRPr sz="1050">
                <a:solidFill>
                  <a:srgbClr val="FFFFFF"/>
                </a:solidFill>
              </a:defRPr>
            </a:pPr>
            <a:r>
              <a:t>Previous hackathon architectures failed due to microservice sprawl (4 Docker containers, 45s cold starts, port crashes). Next.js 15 App Router unifies WebGL rendering, Edge APIs, agent streaming, and Turf.js spatial algorithms into a single production runtime with zero deployment fragility.</a:t>
            </a:r>
          </a:p>
        </p:txBody>
      </p:sp>
      <p:sp>
        <p:nvSpPr>
          <p:cNvPr id="6" name="Rounded Rectangle 5"/>
          <p:cNvSpPr/>
          <p:nvPr/>
        </p:nvSpPr>
        <p:spPr>
          <a:xfrm>
            <a:off x="6172200" y="1645920"/>
            <a:ext cx="5257800" cy="2057400"/>
          </a:xfrm>
          <a:prstGeom prst="roundRect">
            <a:avLst/>
          </a:prstGeom>
          <a:solidFill>
            <a:srgbClr val="15203C"/>
          </a:solidFill>
          <a:ln w="15240">
            <a:solidFill>
              <a:srgbClr val="283C64"/>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ctr"/>
          <a:lstStyle/>
          <a:p>
            <a:pPr algn="ctr">
              <a:spcAft>
                <a:spcPts val="600"/>
              </a:spcAft>
              <a:defRPr sz="1200" b="1">
                <a:solidFill>
                  <a:srgbClr val="0EA5E9"/>
                </a:solidFill>
              </a:defRPr>
            </a:pPr>
            <a:r>
              <a:t>Q2: How do you guarantee the AI doesn't hallucinate border distances?</a:t>
            </a:r>
          </a:p>
          <a:p>
            <a:pPr>
              <a:defRPr sz="1050">
                <a:solidFill>
                  <a:srgbClr val="FFFFFF"/>
                </a:solidFill>
              </a:defRPr>
            </a:pPr>
            <a:r>
              <a:t>We maintain a strict boundary between probabilistic LLMs and deterministic mathematics. The LLM NEVER calculates coordinates. Turf.js computes exact Haversine distances against official UNCLOS vectors before LLM invocation. If within 12km of IMBL, a hardcoded Safety Veto overrides all output.</a:t>
            </a:r>
          </a:p>
        </p:txBody>
      </p:sp>
      <p:sp>
        <p:nvSpPr>
          <p:cNvPr id="7" name="Rounded Rectangle 6"/>
          <p:cNvSpPr/>
          <p:nvPr/>
        </p:nvSpPr>
        <p:spPr>
          <a:xfrm>
            <a:off x="731520" y="3931920"/>
            <a:ext cx="5257800" cy="2057400"/>
          </a:xfrm>
          <a:prstGeom prst="roundRect">
            <a:avLst/>
          </a:prstGeom>
          <a:solidFill>
            <a:srgbClr val="15203C"/>
          </a:solidFill>
          <a:ln w="15240">
            <a:solidFill>
              <a:srgbClr val="283C64"/>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ctr"/>
          <a:lstStyle/>
          <a:p>
            <a:pPr algn="ctr">
              <a:spcAft>
                <a:spcPts val="600"/>
              </a:spcAft>
              <a:defRPr sz="1200" b="1">
                <a:solidFill>
                  <a:srgbClr val="0EA5E9"/>
                </a:solidFill>
              </a:defRPr>
            </a:pPr>
            <a:r>
              <a:t>Q3: What happens when a fishing boat loses internet connection at sea?</a:t>
            </a:r>
          </a:p>
          <a:p>
            <a:pPr>
              <a:defRPr sz="1050">
                <a:solidFill>
                  <a:srgbClr val="FFFFFF"/>
                </a:solidFill>
              </a:defRPr>
            </a:pPr>
            <a:r>
              <a:t>We engineered a dual-tier edge failover architecture. Inshore, the system uses Google Gemini 3.5 Flash. When disconnected beyond cellular range, the app automatically switches to local Ollama (Llama 3.2 3B) with cached GeoJSON boundaries, operating 100% offline.</a:t>
            </a:r>
          </a:p>
        </p:txBody>
      </p:sp>
      <p:sp>
        <p:nvSpPr>
          <p:cNvPr id="8" name="Rounded Rectangle 7"/>
          <p:cNvSpPr/>
          <p:nvPr/>
        </p:nvSpPr>
        <p:spPr>
          <a:xfrm>
            <a:off x="6172200" y="3931920"/>
            <a:ext cx="5257800" cy="2057400"/>
          </a:xfrm>
          <a:prstGeom prst="roundRect">
            <a:avLst/>
          </a:prstGeom>
          <a:solidFill>
            <a:srgbClr val="15203C"/>
          </a:solidFill>
          <a:ln w="15240">
            <a:solidFill>
              <a:srgbClr val="283C64"/>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ctr"/>
          <a:lstStyle/>
          <a:p>
            <a:pPr algn="ctr">
              <a:spcAft>
                <a:spcPts val="600"/>
              </a:spcAft>
              <a:defRPr sz="1200" b="1">
                <a:solidFill>
                  <a:srgbClr val="0EA5E9"/>
                </a:solidFill>
              </a:defRPr>
            </a:pPr>
            <a:r>
              <a:t>Q4: Is this genuine satellite data or static demo images?</a:t>
            </a:r>
          </a:p>
          <a:p>
            <a:pPr>
              <a:defRPr sz="1050">
                <a:solidFill>
                  <a:srgbClr val="FFFFFF"/>
                </a:solidFill>
              </a:defRPr>
            </a:pPr>
            <a:r>
              <a:t>Our MapLibre client queries NASA GIBS WMTS endpoints with dynamic temporal sliding windows for MODIS TrueColor, GHRSST SST, and Chlorophyll-A. For INCOIS, we stream official GeoServer WMS tiles. Real-time vessel positions stream continuously via AISStream WebSockets.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128"/>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latin typeface="Arial"/>
              </a:defRPr>
            </a:pPr>
            <a:r>
              <a:t>SMART INDIA HACKATHON 2026 | ISRO PS 176</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FFFFFF"/>
                </a:solidFill>
                <a:latin typeface="Arial"/>
              </a:defRPr>
            </a:pPr>
            <a:r>
              <a:t>Summary: Why Aurexo is the Winning Solution for PS 176</a:t>
            </a:r>
          </a:p>
        </p:txBody>
      </p:sp>
      <p:sp>
        <p:nvSpPr>
          <p:cNvPr id="4" name="Rectangle 3"/>
          <p:cNvSpPr/>
          <p:nvPr/>
        </p:nvSpPr>
        <p:spPr>
          <a:xfrm>
            <a:off x="731520" y="1234440"/>
            <a:ext cx="10698480" cy="2743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6217920" cy="4389120"/>
          </a:xfrm>
          <a:prstGeom prst="roundRect">
            <a:avLst/>
          </a:prstGeom>
          <a:solidFill>
            <a:srgbClr val="15203C"/>
          </a:solidFill>
          <a:ln w="15240">
            <a:solidFill>
              <a:srgbClr val="283C64"/>
            </a:solidFill>
          </a:ln>
        </p:spPr>
        <p:style>
          <a:lnRef idx="1">
            <a:schemeClr val="accent1"/>
          </a:lnRef>
          <a:fillRef idx="3">
            <a:schemeClr val="accent1"/>
          </a:fillRef>
          <a:effectRef idx="2">
            <a:schemeClr val="accent1"/>
          </a:effectRef>
          <a:fontRef idx="minor">
            <a:schemeClr val="lt1"/>
          </a:fontRef>
        </p:style>
        <p:txBody>
          <a:bodyPr wrap="square" lIns="365760" tIns="274320" rIns="365760" rtlCol="0" anchor="ctr"/>
          <a:lstStyle/>
          <a:p>
            <a:pPr algn="ctr">
              <a:spcAft>
                <a:spcPts val="1200"/>
              </a:spcAft>
              <a:defRPr sz="1600" b="1">
                <a:solidFill>
                  <a:srgbClr val="0EA5E9"/>
                </a:solidFill>
              </a:defRPr>
            </a:pPr>
            <a:r>
              <a:t>The Aurexo Advantage: Summary Matrix</a:t>
            </a:r>
          </a:p>
          <a:p>
            <a:pPr>
              <a:spcAft>
                <a:spcPts val="800"/>
              </a:spcAft>
              <a:defRPr sz="1100">
                <a:solidFill>
                  <a:srgbClr val="FFFFFF"/>
                </a:solidFill>
              </a:defRPr>
            </a:pPr>
            <a:r>
              <a:t>1. True Multi-Agent Swarm: Supervisor coordinates Oceanography, Sentinel, and Fleet Tracker agents with deterministic veto capabilities.</a:t>
            </a:r>
          </a:p>
          <a:p>
            <a:pPr>
              <a:spcAft>
                <a:spcPts val="800"/>
              </a:spcAft>
              <a:defRPr sz="1100">
                <a:solidFill>
                  <a:srgbClr val="FFFFFF"/>
                </a:solidFill>
              </a:defRPr>
            </a:pPr>
            <a:r>
              <a:t>2. Zero Mock Enforced: Live AISStream WebSockets, NASA GIBS daily WMS, INCOIS GeoServer, and Open-Meteo marine reanalysis.</a:t>
            </a:r>
          </a:p>
          <a:p>
            <a:pPr>
              <a:spcAft>
                <a:spcPts val="800"/>
              </a:spcAft>
              <a:defRPr sz="1100">
                <a:solidFill>
                  <a:srgbClr val="FFFFFF"/>
                </a:solidFill>
              </a:defRPr>
            </a:pPr>
            <a:r>
              <a:t>3. Deterministic Safety: Turf.js geodesic math prevents border apprehensions along Indo-Pak and Indo-Sri Lanka maritime lines.</a:t>
            </a:r>
          </a:p>
          <a:p>
            <a:pPr>
              <a:spcAft>
                <a:spcPts val="800"/>
              </a:spcAft>
              <a:defRPr sz="1100">
                <a:solidFill>
                  <a:srgbClr val="FFFFFF"/>
                </a:solidFill>
              </a:defRPr>
            </a:pPr>
            <a:r>
              <a:t>4. Sub-1.5s Execution: Powered by Google Gemini 3.5 Flash-Lite with local Ollama fallback for offline resilience at sea.</a:t>
            </a:r>
          </a:p>
          <a:p>
            <a:pPr>
              <a:spcAft>
                <a:spcPts val="800"/>
              </a:spcAft>
              <a:defRPr sz="1100">
                <a:solidFill>
                  <a:srgbClr val="FFFFFF"/>
                </a:solidFill>
              </a:defRPr>
            </a:pPr>
            <a:r>
              <a:t>5. Social Impact: 30-35% fuel savings for artisanal fishers, marine protected area preservation, and multi-lingual voice copilot.</a:t>
            </a:r>
          </a:p>
        </p:txBody>
      </p:sp>
      <p:sp>
        <p:nvSpPr>
          <p:cNvPr id="6" name="Rounded Rectangle 5"/>
          <p:cNvSpPr/>
          <p:nvPr/>
        </p:nvSpPr>
        <p:spPr>
          <a:xfrm>
            <a:off x="7223760" y="1645920"/>
            <a:ext cx="4206240" cy="4389120"/>
          </a:xfrm>
          <a:prstGeom prst="roundRect">
            <a:avLst/>
          </a:prstGeom>
          <a:solidFill>
            <a:srgbClr val="101A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365760" rIns="274320" rtlCol="0" anchor="ctr"/>
          <a:lstStyle/>
          <a:p>
            <a:pPr algn="ctr">
              <a:spcAft>
                <a:spcPts val="1600"/>
              </a:spcAft>
              <a:defRPr sz="1600" b="1">
                <a:solidFill>
                  <a:srgbClr val="10B981"/>
                </a:solidFill>
              </a:defRPr>
            </a:pPr>
            <a:r>
              <a:rPr dirty="0"/>
              <a:t>TEST LIVE URL NOW</a:t>
            </a:r>
          </a:p>
          <a:p>
            <a:pPr algn="ctr">
              <a:defRPr sz="1200">
                <a:solidFill>
                  <a:srgbClr val="38BDF8"/>
                </a:solidFill>
              </a:defRPr>
            </a:pPr>
            <a:r>
              <a:rPr dirty="0"/>
              <a:t>Scan QR Code or Open in Browser:</a:t>
            </a:r>
          </a:p>
          <a:p>
            <a:pPr algn="ctr">
              <a:spcAft>
                <a:spcPts val="1600"/>
              </a:spcAft>
              <a:defRPr sz="1300" b="1">
                <a:solidFill>
                  <a:srgbClr val="FFFFFF"/>
                </a:solidFill>
              </a:defRPr>
            </a:pPr>
            <a:r>
              <a:rPr dirty="0"/>
              <a:t>http://localhost:3000</a:t>
            </a:r>
            <a:br>
              <a:rPr dirty="0"/>
            </a:br>
            <a:r>
              <a:rPr dirty="0"/>
              <a:t>(Deployed to </a:t>
            </a:r>
            <a:r>
              <a:rPr dirty="0" err="1"/>
              <a:t>Vercel</a:t>
            </a:r>
            <a:r>
              <a:rPr dirty="0"/>
              <a:t>/Railway Production)</a:t>
            </a:r>
          </a:p>
          <a:p>
            <a:pPr algn="ctr">
              <a:defRPr sz="1200" i="1">
                <a:solidFill>
                  <a:srgbClr val="94A3B8"/>
                </a:solidFill>
              </a:defRPr>
            </a:pPr>
            <a:r>
              <a:rPr dirty="0"/>
              <a:t>Thank you, Jury &amp; Evaluators!</a:t>
            </a:r>
            <a:br>
              <a:rPr dirty="0"/>
            </a:br>
            <a:r>
              <a:rPr dirty="0"/>
              <a:t>Team Artemis / </a:t>
            </a:r>
            <a:r>
              <a:rPr dirty="0" err="1"/>
              <a:t>Aurexo</a:t>
            </a:r>
            <a:br>
              <a:rPr dirty="0"/>
            </a:br>
            <a:r>
              <a:rPr dirty="0"/>
              <a:t>Smart India Hackathon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3229</Words>
  <Application>Microsoft Office PowerPoint</Application>
  <PresentationFormat>Widescreen</PresentationFormat>
  <Paragraphs>214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rohit lakas</cp:lastModifiedBy>
  <cp:revision>2</cp:revision>
  <dcterms:created xsi:type="dcterms:W3CDTF">2013-01-27T09:14:16Z</dcterms:created>
  <dcterms:modified xsi:type="dcterms:W3CDTF">2026-10-04T09:40:36Z</dcterms:modified>
  <cp:category/>
</cp:coreProperties>
</file>